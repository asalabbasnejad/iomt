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323" r:id="rId3"/>
    <p:sldId id="260" r:id="rId4"/>
    <p:sldId id="261" r:id="rId5"/>
    <p:sldId id="263" r:id="rId6"/>
    <p:sldId id="315" r:id="rId7"/>
    <p:sldId id="318" r:id="rId8"/>
    <p:sldId id="316" r:id="rId9"/>
    <p:sldId id="317" r:id="rId10"/>
    <p:sldId id="319" r:id="rId11"/>
    <p:sldId id="271" r:id="rId12"/>
    <p:sldId id="272" r:id="rId13"/>
    <p:sldId id="273" r:id="rId14"/>
    <p:sldId id="275" r:id="rId15"/>
    <p:sldId id="290" r:id="rId16"/>
    <p:sldId id="291" r:id="rId17"/>
    <p:sldId id="292" r:id="rId18"/>
    <p:sldId id="293" r:id="rId19"/>
    <p:sldId id="321" r:id="rId20"/>
    <p:sldId id="294" r:id="rId21"/>
    <p:sldId id="277" r:id="rId22"/>
    <p:sldId id="278" r:id="rId23"/>
    <p:sldId id="279" r:id="rId24"/>
    <p:sldId id="280" r:id="rId25"/>
    <p:sldId id="282" r:id="rId26"/>
    <p:sldId id="283" r:id="rId27"/>
    <p:sldId id="302" r:id="rId28"/>
    <p:sldId id="285" r:id="rId29"/>
    <p:sldId id="304" r:id="rId30"/>
    <p:sldId id="287" r:id="rId31"/>
    <p:sldId id="288" r:id="rId32"/>
    <p:sldId id="295" r:id="rId33"/>
    <p:sldId id="299" r:id="rId34"/>
    <p:sldId id="322" r:id="rId35"/>
    <p:sldId id="309" r:id="rId36"/>
    <p:sldId id="310" r:id="rId37"/>
    <p:sldId id="311" r:id="rId38"/>
    <p:sldId id="312" r:id="rId39"/>
    <p:sldId id="313" r:id="rId40"/>
    <p:sldId id="274" r:id="rId41"/>
    <p:sldId id="297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D442CE-8956-9F67-D320-7582E1E57100}" v="95" dt="2026-06-29T15:19:26.631"/>
    <p1510:client id="{0F4F4260-0AFF-161A-3A81-3464252CC82B}" v="250" dt="2026-06-29T11:47:06.276"/>
    <p1510:client id="{1C5CB3B9-1DAC-CF0A-B9F1-7DC4E14683C1}" v="4" dt="2026-06-29T14:35:43.199"/>
    <p1510:client id="{27E52B81-0512-F751-26DB-379F364B9DB4}" v="140" dt="2026-06-29T16:37:57.801"/>
    <p1510:client id="{2F9D831B-199E-E4B7-C84E-03B18E3CC368}" v="6" dt="2026-06-29T23:03:59.482"/>
    <p1510:client id="{2FDDF0A8-3141-B510-11CE-4B80B6D2AA6F}" v="26" dt="2026-06-29T14:17:41.083"/>
    <p1510:client id="{35E773E2-26DF-FE16-EC65-4B2F64FE4C52}" v="928" dt="2026-06-29T21:59:05.735"/>
    <p1510:client id="{37D1CE21-8D85-5B51-21C5-03900FDF9516}" v="3" dt="2026-06-30T10:50:58.075"/>
    <p1510:client id="{3BA6414E-09EF-C9E9-9D20-540EA0244469}" v="4" dt="2026-06-30T06:07:00.125"/>
    <p1510:client id="{4388171E-CB82-1F62-A38F-3B294382E2B2}" v="13" dt="2026-06-30T10:09:07.573"/>
    <p1510:client id="{4E473D8F-631D-A636-6B1A-45F49F2FA4E4}" v="4" dt="2026-06-29T13:00:46.281"/>
    <p1510:client id="{5CACEA26-D031-8E17-A9FD-D090E37AB8A6}" v="64" dt="2026-06-29T15:13:54.210"/>
    <p1510:client id="{5FEFB547-D5EB-D590-2278-D8981D7767EF}" v="41" dt="2026-06-30T00:37:26.303"/>
    <p1510:client id="{693123AE-9CC2-1BA9-DC9B-1FE767E9D012}" v="4" dt="2026-06-29T11:03:35.518"/>
    <p1510:client id="{6E1AE39F-1528-9D67-BDA3-DC7B384BCAFC}" v="137" dt="2026-06-30T09:56:21.359"/>
    <p1510:client id="{729312AD-1D82-A307-BA4A-C82D6B4760B2}" v="435" dt="2026-06-29T21:02:12.175"/>
    <p1510:client id="{798EAAAB-FA9F-3CB6-6B0A-C4E090E784C0}" v="66" dt="2026-06-29T15:09:05.084"/>
    <p1510:client id="{80630FF8-AF62-FA92-8243-5E6779A55187}" v="77" dt="2026-06-30T09:41:46.031"/>
    <p1510:client id="{A2D3D380-0C2A-4EB3-8952-1ED634478865}" v="137" dt="2026-06-30T10:24:32.862"/>
    <p1510:client id="{A53C11F5-0368-3B52-35E9-7305ABF1A439}" v="599" dt="2026-06-29T14:35:50.863"/>
    <p1510:client id="{AE6DE803-4500-4646-AD12-8CB3690C8941}" v="102" dt="2026-06-30T10:24:14.394"/>
    <p1510:client id="{BF9D9C3B-1E79-336A-C108-523CA5E91115}" v="20" dt="2026-06-30T09:52:40.539"/>
    <p1510:client id="{C0098C2A-7D20-8516-9CC3-85787926379E}" v="26" dt="2026-06-30T12:48:04.980"/>
    <p1510:client id="{CA6C3ABA-74B3-92C6-ED31-7ED102049193}" v="1" dt="2026-06-29T15:06:14.898"/>
    <p1510:client id="{DD91DFF7-4A27-A706-E0B1-66AB39CE260C}" v="23" dt="2026-06-29T14:34:12.891"/>
    <p1510:client id="{EF7F256E-00E9-CD54-8F83-BBF77085B143}" v="5" dt="2026-06-30T11:02:31.101"/>
    <p1510:client id="{F4CF2DAB-313A-B79E-A734-5F80F7FCDD74}" v="13" dt="2026-06-30T10:06:08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24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Serial</c:v>
                </c:pt>
                <c:pt idx="1">
                  <c:v>BLE conn.</c:v>
                </c:pt>
                <c:pt idx="2">
                  <c:v>Wi-Fi idle</c:v>
                </c:pt>
                <c:pt idx="3">
                  <c:v>BLE adv.</c:v>
                </c:pt>
                <c:pt idx="4">
                  <c:v>TCP conn.</c:v>
                </c:pt>
                <c:pt idx="5">
                  <c:v>UDP active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300</c:v>
                </c:pt>
                <c:pt idx="1">
                  <c:v>306</c:v>
                </c:pt>
                <c:pt idx="2">
                  <c:v>330</c:v>
                </c:pt>
                <c:pt idx="3">
                  <c:v>360</c:v>
                </c:pt>
                <c:pt idx="4">
                  <c:v>595</c:v>
                </c:pt>
                <c:pt idx="5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40-423F-BD8A-27689AAF59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B19B2-4239-4D0D-B8D2-5095C0C7F440}" type="datetimeFigureOut">
              <a:t>6/30/2026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22235-8C3D-49EF-8CF3-AE6542D75F4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094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by stating the goal: we built a complete digital phonocardiography prototype that starts from acoustic heart sound acquisition and ends with visualization and signal-derived analysis outputs. Emphasize that it is an IoMT engineering prototype, not a clinical diagnostic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transition: System architecture. Use this slide to tell the examiner what part of the system will be explained next and how it connects to the previous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as the reference architecture for the entire presentation. Point from left to right: acoustic signal, analog output, ADC acquisition, BLE transport, and software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transition: Hardware design. Use this slide to tell the examiner what part of the system will be explained next and how it connects to the previous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Opening: the hardware section answers how we turn heart sound into a usable electrical and digital signal. The sensor captures the sound, the ESP32 reads the analog signal, and the rest of the system sends and analyzes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board is modular: sensing, processing, display, and power. The ESP32 is central to reduce distances and simplify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3B88-8402-B1A3-75EB-CAA0CE22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85969-1B17-D4F2-BD22-877E3351D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4F8AF-4C95-F73F-AD5C-D6F5E6A6A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analog output is selected because PCG processing needs the full waveform. C2 removes DC offset. R1 and R2 protect the ADC by dividing VBAT by two.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95FF6-7840-7A9B-3556-CB1E2E515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0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layout follows function: display and charger on one side, ESP32 in the center, sensor on the opposite side. Wider power traces improve reliability. A direct sensor path helps reduce noise pickup.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3D view checks the physical design. The final DRC has zero violations. Gerber, NC Drill, BOM, and Pick-and-Place outputs make the design ready for fabrication and assembly.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transition: Firmware and acquisition. Use this slide to tell the examiner what part of the system will be explained next and how it connects to the previous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firmware as the glue between hardware and software. Mention that high-level PCG analysis is intentionally outside the firmware.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state machine shows predictable behavior: advertise, connect, wait for command, sample, stream, and stop on timeout.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Separate the deployed protocol from the benchmark protocol. The final BLE stream is minimal and relies on BLE boundaries and the configured sampling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transition: Communication protocol. Use this slide to tell the examiner what part of the system will be explained next and how it connects to the previous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clear that the structured benchmark packet is different from the deployed BLE packet. It was introduced only to measure packet loss fairly.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supports the BLE selection. Give exact values and emphasize that active Wi-Fi has substantially higher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simply say BLE is fastest. The real conclusion is that BLE is sufficient at 500 Hz and has better power efficiency for the prototype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Phrase the selection as an engineering trade-off. BLE is not universally best, but it is the right choice for this target: low-power short-range PCG streaming at 500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transition: Signal processing. Use this slide to tell the examiner what part of the system will be explained next and how it connects to the previous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Set up the reason for every processing block. The core difficulty is that the raw waveform contains rapid oscillations and noise, so we need an envelope and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filtering preserves useful PCG activity mainly between 25 and 200 Hz while reducing interference and broadband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key slide. Explain that the Shannon envelope emphasizes main heart sound events and makes peak detection easier than using the oscillating waveform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the four-state sequence as a repeated anchor. This segmentation is the basis for temporal, energy, and murmur-like activity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Frame features as descriptors of timing, energy, morphology, and frequency behavior. Avoid claiming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that systolic and diastolic intervals are phase-specific descriptors made possible by segmentation.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 precise: these are HRV-like metrics. This distinction is important and shows scientific caution.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 explicitly: these metrics are derived from PCG S1-S1 intervals, not ECG R-R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distinguishes timing consistency from waveform-shape consistency. The project detected timing structure, but morphology varied across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where the phrase murmur-like must be handled carefully. Say candidate acoustic activity and avoid diagnostic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transition: Software platform. Use this slide to tell the examiner what part of the system will be explained next and how it connects to the previous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sequence: frontend request, backend recording command, BLE acquisition, WAV/database storage, analysis request, and frontend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53DFF-E06F-11DE-92E3-CB909766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54DE6-3D08-1892-4CA9-8F0F8A8EB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18681-5E28-66D1-790F-F981F574D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End with the integrated-system message. Reiterate that the prototype is complete as an engineering demonstration and that clinical validation is a future development.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1F6C2-82F9-FA07-DCEC-023A10ACBF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46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questions start, first listen carefully. For strict questions, answer with engineering evidence from the slides: component choices, firmware design, benchmark numbers, and signal-processing caution.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transition: Appendix. Use this slide to tell the examiner what part of the system will be explained next and how it connects to the previous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only if asked for exact parameter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backup slide if asked why packet formats differ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backup slide if asked about software integration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strong technical slide. Emphasize why the ISR is lightweight: it improves reliability on the ESP32 and avoids calling analogRead from interrupt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if the examiner asks how the software is actually organized. It shows clear separation of route, schema, model, service, and configuration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78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11430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Implementation of a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 Phonocardiography System</a:t>
            </a:r>
            <a:endParaRPr lang="en-US" sz="3400"/>
          </a:p>
        </p:txBody>
      </p:sp>
      <p:sp>
        <p:nvSpPr>
          <p:cNvPr id="4" name="Shape 1"/>
          <p:cNvSpPr/>
          <p:nvPr/>
        </p:nvSpPr>
        <p:spPr>
          <a:xfrm>
            <a:off x="621792" y="2514600"/>
            <a:ext cx="2560320" cy="0"/>
          </a:xfrm>
          <a:prstGeom prst="line">
            <a:avLst/>
          </a:prstGeom>
          <a:noFill/>
          <a:ln w="508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5212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9E8FF"/>
                </a:solidFill>
              </a:rPr>
              <a:t>Cardiac sound acquisition, processing, BLE transmission, and visualization</a:t>
            </a:r>
            <a:endParaRPr lang="en-US" sz="1800"/>
          </a:p>
        </p:txBody>
      </p:sp>
      <p:sp>
        <p:nvSpPr>
          <p:cNvPr id="6" name="Text 3"/>
          <p:cNvSpPr/>
          <p:nvPr/>
        </p:nvSpPr>
        <p:spPr>
          <a:xfrm>
            <a:off x="640080" y="3703320"/>
            <a:ext cx="1645920" cy="292608"/>
          </a:xfrm>
          <a:prstGeom prst="rect">
            <a:avLst/>
          </a:prstGeom>
          <a:solidFill>
            <a:srgbClr val="1A73E8"/>
          </a:solidFill>
          <a:ln>
            <a:solidFill>
              <a:srgbClr val="1A73E8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IoMT prototype</a:t>
            </a:r>
            <a:endParaRPr lang="en-US" sz="1100"/>
          </a:p>
        </p:txBody>
      </p:sp>
      <p:sp>
        <p:nvSpPr>
          <p:cNvPr id="7" name="Text 4"/>
          <p:cNvSpPr/>
          <p:nvPr/>
        </p:nvSpPr>
        <p:spPr>
          <a:xfrm>
            <a:off x="2468880" y="3703320"/>
            <a:ext cx="2057400" cy="292608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PCG signal processing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709160" y="3703320"/>
            <a:ext cx="1508760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platform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640080" y="5760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FD7FF"/>
                </a:solidFill>
              </a:rPr>
              <a:t>Laboratory of Internet of Medical Things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BFD7FF"/>
                </a:solidFill>
              </a:rPr>
              <a:t>Academic year 2025-2026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98057" y="-31931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3F"/>
                </a:solidFill>
              </a:defRPr>
            </a:pPr>
            <a:r>
              <a:t>Outline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3A71C1"/>
          </a:solidFill>
          <a:ln>
            <a:solidFill>
              <a:srgbClr val="3A7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344168"/>
            <a:ext cx="6217920" cy="530352"/>
          </a:xfrm>
          <a:prstGeom prst="roundRect">
            <a:avLst/>
          </a:prstGeom>
          <a:solidFill>
            <a:srgbClr val="E8F1FC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t>System Architecture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21408"/>
            <a:ext cx="457200" cy="457200"/>
          </a:xfrm>
          <a:prstGeom prst="ellipse">
            <a:avLst/>
          </a:prstGeom>
          <a:solidFill>
            <a:srgbClr val="3A71C1"/>
          </a:solidFill>
          <a:ln>
            <a:solidFill>
              <a:srgbClr val="3A7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093976"/>
            <a:ext cx="6217920" cy="530352"/>
          </a:xfrm>
          <a:prstGeom prst="roundRect">
            <a:avLst/>
          </a:prstGeom>
          <a:solidFill>
            <a:srgbClr val="E8F1FC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t>Hardware Design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71215"/>
            <a:ext cx="457200" cy="457200"/>
          </a:xfrm>
          <a:prstGeom prst="ellipse">
            <a:avLst/>
          </a:prstGeom>
          <a:solidFill>
            <a:srgbClr val="3A71C1"/>
          </a:solidFill>
          <a:ln>
            <a:solidFill>
              <a:srgbClr val="3A7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843783"/>
            <a:ext cx="6217920" cy="530352"/>
          </a:xfrm>
          <a:prstGeom prst="roundRect">
            <a:avLst/>
          </a:prstGeom>
          <a:solidFill>
            <a:srgbClr val="E8F1FC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t>Firmware and Acquisition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621024"/>
            <a:ext cx="457200" cy="457200"/>
          </a:xfrm>
          <a:prstGeom prst="ellipse">
            <a:avLst/>
          </a:prstGeom>
          <a:solidFill>
            <a:srgbClr val="3A71C1"/>
          </a:solidFill>
          <a:ln>
            <a:solidFill>
              <a:srgbClr val="3A7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3593592"/>
            <a:ext cx="6217920" cy="530352"/>
          </a:xfrm>
          <a:prstGeom prst="roundRect">
            <a:avLst/>
          </a:prstGeom>
          <a:solidFill>
            <a:srgbClr val="E8F1FC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t>Communication Protocols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370831"/>
            <a:ext cx="457200" cy="457200"/>
          </a:xfrm>
          <a:prstGeom prst="ellipse">
            <a:avLst/>
          </a:prstGeom>
          <a:solidFill>
            <a:srgbClr val="3A71C1"/>
          </a:solidFill>
          <a:ln>
            <a:solidFill>
              <a:srgbClr val="3A7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4343399"/>
            <a:ext cx="6217920" cy="530352"/>
          </a:xfrm>
          <a:prstGeom prst="roundRect">
            <a:avLst/>
          </a:prstGeom>
          <a:solidFill>
            <a:srgbClr val="E8F1FC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t>Signal Processing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120640"/>
            <a:ext cx="457200" cy="457200"/>
          </a:xfrm>
          <a:prstGeom prst="ellipse">
            <a:avLst/>
          </a:prstGeom>
          <a:solidFill>
            <a:srgbClr val="3A71C1"/>
          </a:solidFill>
          <a:ln>
            <a:solidFill>
              <a:srgbClr val="3A7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5093208"/>
            <a:ext cx="6217920" cy="530352"/>
          </a:xfrm>
          <a:prstGeom prst="roundRect">
            <a:avLst/>
          </a:prstGeom>
          <a:solidFill>
            <a:srgbClr val="E8F1FC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t>Software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7DE2D1"/>
                </a:solidFill>
              </a:rPr>
              <a:t>01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834640" cy="0"/>
          </a:xfrm>
          <a:prstGeom prst="line">
            <a:avLst/>
          </a:prstGeom>
          <a:noFill/>
          <a:ln w="508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595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D9E8FF"/>
                </a:solidFill>
              </a:rPr>
              <a:t>From heart sound acquisition to software visualization and analysis.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09233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End-to-</a:t>
            </a:r>
            <a:r>
              <a:rPr lang="en-US" sz="2800" b="1">
                <a:solidFill>
                  <a:srgbClr val="09233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end</a:t>
            </a:r>
            <a:r>
              <a:rPr lang="en-US" sz="2600" b="1">
                <a:solidFill>
                  <a:srgbClr val="09233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 system architecture</a:t>
            </a:r>
            <a:endParaRPr lang="en-US" sz="2600" b="1">
              <a:solidFill>
                <a:srgbClr val="09233F"/>
              </a:solidFill>
              <a:latin typeface="Aptos Display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Digital Phonocardiography System | Lab of Internet of Medical Things</a:t>
            </a:r>
            <a:endParaRPr lang="en-US" sz="850"/>
          </a:p>
        </p:txBody>
      </p:sp>
      <p:pic>
        <p:nvPicPr>
          <p:cNvPr id="17" name="Picture 16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BA8F718F-C5EF-3A03-8DBF-3021B91911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6" t="20476" r="2202" b="14879"/>
          <a:stretch>
            <a:fillRect/>
          </a:stretch>
        </p:blipFill>
        <p:spPr>
          <a:xfrm>
            <a:off x="703942" y="1614715"/>
            <a:ext cx="10755099" cy="3621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7DE2D1"/>
                </a:solidFill>
              </a:rPr>
              <a:t>02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design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834640" cy="0"/>
          </a:xfrm>
          <a:prstGeom prst="line">
            <a:avLst/>
          </a:prstGeom>
          <a:noFill/>
          <a:ln w="508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595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D9E8FF"/>
                </a:solidFill>
              </a:rPr>
              <a:t>Compact acquisition board integrating sensing, processing, display, and power.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</a:rPr>
              <a:t>Hardware</a:t>
            </a:r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1201400" cy="0"/>
          </a:xfrm>
          <a:prstGeom prst="line">
            <a:avLst/>
          </a:prstGeom>
          <a:noFill/>
          <a:ln w="1270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0C2A44"/>
                </a:solidFill>
              </a:rPr>
              <a:t>Hardware</a:t>
            </a:r>
            <a:r>
              <a:rPr lang="en-US" sz="2900" b="1">
                <a:solidFill>
                  <a:srgbClr val="0C2A44"/>
                </a:solidFill>
              </a:rPr>
              <a:t> design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566928" y="100584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C2A44"/>
                </a:solidFill>
              </a:rPr>
              <a:t>From heart sound</a:t>
            </a:r>
            <a:endParaRPr lang="en-US" sz="3100"/>
          </a:p>
          <a:p>
            <a:pPr marL="0" indent="0">
              <a:buNone/>
            </a:pPr>
            <a:r>
              <a:rPr lang="en-US" sz="3100" b="1">
                <a:solidFill>
                  <a:srgbClr val="0C2A44"/>
                </a:solidFill>
              </a:rPr>
              <a:t>to digital data</a:t>
            </a:r>
            <a:endParaRPr lang="en-US" sz="3100"/>
          </a:p>
        </p:txBody>
      </p:sp>
      <p:sp>
        <p:nvSpPr>
          <p:cNvPr id="6" name="Text 4"/>
          <p:cNvSpPr/>
          <p:nvPr/>
        </p:nvSpPr>
        <p:spPr>
          <a:xfrm>
            <a:off x="585216" y="2450592"/>
            <a:ext cx="443484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50">
                <a:solidFill>
                  <a:srgbClr val="202733"/>
                </a:solidFill>
              </a:rPr>
              <a:t>The board captures acoustic cardiac activity and prepares it for acquisition, BLE streaming, and software analysis.</a:t>
            </a:r>
            <a:endParaRPr lang="en-US" sz="1850"/>
          </a:p>
        </p:txBody>
      </p:sp>
      <p:pic>
        <p:nvPicPr>
          <p:cNvPr id="7" name="Image 0" descr="/mnt/data/extracted/p6_img2_676x4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947" y="1005840"/>
            <a:ext cx="6299931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358384"/>
            <a:ext cx="2139696" cy="475488"/>
          </a:xfrm>
          <a:prstGeom prst="rect">
            <a:avLst/>
          </a:prstGeom>
          <a:solidFill>
            <a:srgbClr val="E7F0FE"/>
          </a:solidFill>
          <a:ln>
            <a:solidFill>
              <a:srgbClr val="E7F0F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80" b="1">
                <a:solidFill>
                  <a:srgbClr val="1A73E8"/>
                </a:solidFill>
              </a:rPr>
              <a:t>Heart sound</a:t>
            </a:r>
            <a:endParaRPr lang="en-US" sz="1580"/>
          </a:p>
        </p:txBody>
      </p:sp>
      <p:sp>
        <p:nvSpPr>
          <p:cNvPr id="9" name="Text 6"/>
          <p:cNvSpPr/>
          <p:nvPr/>
        </p:nvSpPr>
        <p:spPr>
          <a:xfrm>
            <a:off x="2834640" y="540410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60758C"/>
                </a:solidFill>
              </a:rPr>
              <a:t>→</a:t>
            </a:r>
            <a:endParaRPr lang="en-US" sz="2200"/>
          </a:p>
        </p:txBody>
      </p:sp>
      <p:sp>
        <p:nvSpPr>
          <p:cNvPr id="10" name="Text 7"/>
          <p:cNvSpPr/>
          <p:nvPr/>
        </p:nvSpPr>
        <p:spPr>
          <a:xfrm>
            <a:off x="3474720" y="5358384"/>
            <a:ext cx="2139696" cy="475488"/>
          </a:xfrm>
          <a:prstGeom prst="rect">
            <a:avLst/>
          </a:prstGeom>
          <a:solidFill>
            <a:srgbClr val="E5F7F7"/>
          </a:solidFill>
          <a:ln>
            <a:solidFill>
              <a:srgbClr val="E5F7F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80" b="1">
                <a:solidFill>
                  <a:srgbClr val="00A6A6"/>
                </a:solidFill>
              </a:rPr>
              <a:t>Sensor</a:t>
            </a:r>
            <a:endParaRPr lang="en-US" sz="1580"/>
          </a:p>
        </p:txBody>
      </p:sp>
      <p:sp>
        <p:nvSpPr>
          <p:cNvPr id="11" name="Text 8"/>
          <p:cNvSpPr/>
          <p:nvPr/>
        </p:nvSpPr>
        <p:spPr>
          <a:xfrm>
            <a:off x="5650992" y="540410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60758C"/>
                </a:solidFill>
              </a:rPr>
              <a:t>→</a:t>
            </a:r>
            <a:endParaRPr lang="en-US" sz="2200"/>
          </a:p>
        </p:txBody>
      </p:sp>
      <p:sp>
        <p:nvSpPr>
          <p:cNvPr id="12" name="Text 9"/>
          <p:cNvSpPr/>
          <p:nvPr/>
        </p:nvSpPr>
        <p:spPr>
          <a:xfrm>
            <a:off x="6291072" y="5358384"/>
            <a:ext cx="2139696" cy="475488"/>
          </a:xfrm>
          <a:prstGeom prst="rect">
            <a:avLst/>
          </a:prstGeom>
          <a:solidFill>
            <a:srgbClr val="EFEAFE"/>
          </a:solidFill>
          <a:ln>
            <a:solidFill>
              <a:srgbClr val="EFEAF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80" b="1">
                <a:solidFill>
                  <a:srgbClr val="7557F2"/>
                </a:solidFill>
              </a:rPr>
              <a:t>ESP32 ADC</a:t>
            </a:r>
            <a:endParaRPr lang="en-US" sz="1580"/>
          </a:p>
        </p:txBody>
      </p:sp>
      <p:sp>
        <p:nvSpPr>
          <p:cNvPr id="13" name="Text 10"/>
          <p:cNvSpPr/>
          <p:nvPr/>
        </p:nvSpPr>
        <p:spPr>
          <a:xfrm>
            <a:off x="8467344" y="540410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60758C"/>
                </a:solidFill>
              </a:rPr>
              <a:t>→</a:t>
            </a:r>
            <a:endParaRPr lang="en-US" sz="2200"/>
          </a:p>
        </p:txBody>
      </p:sp>
      <p:sp>
        <p:nvSpPr>
          <p:cNvPr id="14" name="Text 11"/>
          <p:cNvSpPr/>
          <p:nvPr/>
        </p:nvSpPr>
        <p:spPr>
          <a:xfrm>
            <a:off x="9107424" y="5358384"/>
            <a:ext cx="2139696" cy="475488"/>
          </a:xfrm>
          <a:prstGeom prst="rect">
            <a:avLst/>
          </a:prstGeom>
          <a:solidFill>
            <a:srgbClr val="FFF7DF"/>
          </a:solidFill>
          <a:ln>
            <a:solidFill>
              <a:srgbClr val="FFF7D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80" b="1">
                <a:solidFill>
                  <a:srgbClr val="F2A900"/>
                </a:solidFill>
              </a:rPr>
              <a:t>BLE / software</a:t>
            </a:r>
            <a:endParaRPr lang="en-US" sz="1580"/>
          </a:p>
        </p:txBody>
      </p:sp>
      <p:sp>
        <p:nvSpPr>
          <p:cNvPr id="15" name="Shape 12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60758C"/>
                </a:solidFill>
              </a:rPr>
              <a:t>Digital Phonocardiography System | Hardware section</a:t>
            </a:r>
            <a:endParaRPr lang="en-US" sz="730"/>
          </a:p>
        </p:txBody>
      </p:sp>
    </p:spTree>
    <p:extLst>
      <p:ext uri="{BB962C8B-B14F-4D97-AF65-F5344CB8AC3E}">
        <p14:creationId xmlns:p14="http://schemas.microsoft.com/office/powerpoint/2010/main" val="137862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</a:rPr>
              <a:t>Hardware</a:t>
            </a:r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1201400" cy="0"/>
          </a:xfrm>
          <a:prstGeom prst="line">
            <a:avLst/>
          </a:prstGeom>
          <a:noFill/>
          <a:ln w="1270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>
                <a:solidFill>
                  <a:srgbClr val="0C2A44"/>
                </a:solidFill>
              </a:rPr>
              <a:t>Hardware role and architecture</a:t>
            </a:r>
            <a:endParaRPr lang="en-US" sz="2900"/>
          </a:p>
        </p:txBody>
      </p:sp>
      <p:pic>
        <p:nvPicPr>
          <p:cNvPr id="5" name="Image 0" descr="/mnt/data/extracted/p6_img1_857x5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17" y="1078992"/>
            <a:ext cx="7189365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3568" y="105156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>
                <a:solidFill>
                  <a:srgbClr val="0C2A44"/>
                </a:solidFill>
              </a:rPr>
              <a:t>One compact board,</a:t>
            </a:r>
            <a:endParaRPr lang="en-US" sz="2500"/>
          </a:p>
          <a:p>
            <a:pPr marL="0" indent="0">
              <a:buNone/>
            </a:pPr>
            <a:r>
              <a:rPr lang="en-US" sz="2500" b="1">
                <a:solidFill>
                  <a:srgbClr val="0C2A44"/>
                </a:solidFill>
              </a:rPr>
              <a:t>four functions</a:t>
            </a:r>
            <a:endParaRPr lang="en-US" sz="2500"/>
          </a:p>
        </p:txBody>
      </p:sp>
      <p:sp>
        <p:nvSpPr>
          <p:cNvPr id="7" name="Text 4"/>
          <p:cNvSpPr/>
          <p:nvPr/>
        </p:nvSpPr>
        <p:spPr>
          <a:xfrm>
            <a:off x="8001000" y="1965960"/>
            <a:ext cx="3337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30">
                <a:solidFill>
                  <a:srgbClr val="202733"/>
                </a:solidFill>
              </a:rPr>
              <a:t>ESP32 is central because it connects to almost every subsystem.</a:t>
            </a:r>
            <a:endParaRPr lang="en-US" sz="1630"/>
          </a:p>
        </p:txBody>
      </p:sp>
      <p:sp>
        <p:nvSpPr>
          <p:cNvPr id="8" name="Shape 5"/>
          <p:cNvSpPr/>
          <p:nvPr/>
        </p:nvSpPr>
        <p:spPr>
          <a:xfrm>
            <a:off x="7973568" y="2724912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138160" y="283464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0A6A6"/>
                </a:solidFill>
              </a:rPr>
              <a:t>1  Sensing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8138160" y="3134796"/>
            <a:ext cx="3694901" cy="1387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02733"/>
                </a:solidFill>
              </a:rPr>
              <a:t>SEN-14262 converts sound into an analog signal.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7973568" y="3511296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38160" y="362102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1A73E8"/>
                </a:solidFill>
              </a:rPr>
              <a:t>2  Processing</a:t>
            </a:r>
            <a:endParaRPr lang="en-US" sz="1600"/>
          </a:p>
        </p:txBody>
      </p:sp>
      <p:sp>
        <p:nvSpPr>
          <p:cNvPr id="13" name="Text 10"/>
          <p:cNvSpPr/>
          <p:nvPr/>
        </p:nvSpPr>
        <p:spPr>
          <a:xfrm>
            <a:off x="8072845" y="4015523"/>
            <a:ext cx="3694901" cy="1387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02733"/>
                </a:solidFill>
              </a:rPr>
              <a:t>Arduino Nano ESP32 reads and controls the board.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7973568" y="4297680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138160" y="440740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7557F2"/>
                </a:solidFill>
              </a:rPr>
              <a:t>3  Display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8138160" y="4707564"/>
            <a:ext cx="3694901" cy="1387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02733"/>
                </a:solidFill>
              </a:rPr>
              <a:t>OLED gives local feedback through I2C.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7973568" y="5084064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138160" y="519379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2A900"/>
                </a:solidFill>
              </a:rPr>
              <a:t>4  Power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8138160" y="5493948"/>
            <a:ext cx="3694901" cy="1387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02733"/>
                </a:solidFill>
              </a:rPr>
              <a:t>Battery connector + USB-C charger.</a:t>
            </a:r>
            <a:endParaRPr lang="en-US" sz="1200"/>
          </a:p>
        </p:txBody>
      </p:sp>
      <p:sp>
        <p:nvSpPr>
          <p:cNvPr id="20" name="Text 17"/>
          <p:cNvSpPr/>
          <p:nvPr/>
        </p:nvSpPr>
        <p:spPr>
          <a:xfrm>
            <a:off x="1050834" y="5819358"/>
            <a:ext cx="1353312" cy="420624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</a:rPr>
              <a:t>sensing</a:t>
            </a:r>
            <a:endParaRPr lang="en-US" sz="1450"/>
          </a:p>
        </p:txBody>
      </p:sp>
      <p:sp>
        <p:nvSpPr>
          <p:cNvPr id="21" name="Text 18"/>
          <p:cNvSpPr/>
          <p:nvPr/>
        </p:nvSpPr>
        <p:spPr>
          <a:xfrm>
            <a:off x="2577882" y="5819358"/>
            <a:ext cx="1691640" cy="420624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</a:rPr>
              <a:t>processing</a:t>
            </a:r>
            <a:endParaRPr lang="en-US" sz="1450"/>
          </a:p>
        </p:txBody>
      </p:sp>
      <p:sp>
        <p:nvSpPr>
          <p:cNvPr id="22" name="Text 19"/>
          <p:cNvSpPr/>
          <p:nvPr/>
        </p:nvSpPr>
        <p:spPr>
          <a:xfrm>
            <a:off x="4434114" y="5819358"/>
            <a:ext cx="1325880" cy="420624"/>
          </a:xfrm>
          <a:prstGeom prst="rect">
            <a:avLst/>
          </a:prstGeom>
          <a:solidFill>
            <a:srgbClr val="7557F2"/>
          </a:solidFill>
          <a:ln>
            <a:solidFill>
              <a:srgbClr val="7557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</a:rPr>
              <a:t>display</a:t>
            </a:r>
            <a:endParaRPr lang="en-US" sz="1450"/>
          </a:p>
        </p:txBody>
      </p:sp>
      <p:sp>
        <p:nvSpPr>
          <p:cNvPr id="23" name="Text 20"/>
          <p:cNvSpPr/>
          <p:nvPr/>
        </p:nvSpPr>
        <p:spPr>
          <a:xfrm>
            <a:off x="5933730" y="5819358"/>
            <a:ext cx="1143000" cy="420624"/>
          </a:xfrm>
          <a:prstGeom prst="rect">
            <a:avLst/>
          </a:prstGeom>
          <a:solidFill>
            <a:srgbClr val="F2A900"/>
          </a:solidFill>
          <a:ln>
            <a:solidFill>
              <a:srgbClr val="F2A9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</a:rPr>
              <a:t>power</a:t>
            </a:r>
            <a:endParaRPr lang="en-US" sz="1450"/>
          </a:p>
        </p:txBody>
      </p:sp>
      <p:sp>
        <p:nvSpPr>
          <p:cNvPr id="24" name="Shape 21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7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583D4-CEEB-F98F-9C8A-6DA522CF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7D96F9-BF08-0037-654E-AD29560A095A}"/>
              </a:ext>
            </a:extLst>
          </p:cNvPr>
          <p:cNvSpPr/>
          <p:nvPr/>
        </p:nvSpPr>
        <p:spPr>
          <a:xfrm>
            <a:off x="1019556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</a:rPr>
              <a:t>Hardware</a:t>
            </a:r>
            <a:endParaRPr lang="en-US" sz="10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8191F31-6E05-A326-7409-FB5FC19F82A9}"/>
              </a:ext>
            </a:extLst>
          </p:cNvPr>
          <p:cNvSpPr/>
          <p:nvPr/>
        </p:nvSpPr>
        <p:spPr>
          <a:xfrm>
            <a:off x="502920" y="758952"/>
            <a:ext cx="11201400" cy="0"/>
          </a:xfrm>
          <a:prstGeom prst="line">
            <a:avLst/>
          </a:prstGeom>
          <a:noFill/>
          <a:ln w="1270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C01EFE-3620-C58B-0BC9-EA488DE31837}"/>
              </a:ext>
            </a:extLst>
          </p:cNvPr>
          <p:cNvSpPr/>
          <p:nvPr/>
        </p:nvSpPr>
        <p:spPr>
          <a:xfrm>
            <a:off x="502920" y="1828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>
                <a:solidFill>
                  <a:srgbClr val="0C2A44"/>
                </a:solidFill>
              </a:rPr>
              <a:t>Signal path and battery protection</a:t>
            </a:r>
            <a:endParaRPr lang="en-US" sz="2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2329E8-2E70-2339-54D3-C6D664C043B6}"/>
              </a:ext>
            </a:extLst>
          </p:cNvPr>
          <p:cNvSpPr/>
          <p:nvPr/>
        </p:nvSpPr>
        <p:spPr>
          <a:xfrm>
            <a:off x="621792" y="98755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C2A44"/>
                </a:solidFill>
              </a:rPr>
              <a:t>Preserve the waveform. Protect the ADC.</a:t>
            </a:r>
            <a:endParaRPr lang="en-US" sz="2200"/>
          </a:p>
        </p:txBody>
      </p:sp>
      <p:pic>
        <p:nvPicPr>
          <p:cNvPr id="6" name="Image 0" descr="/mnt/data/extracted/p3_img1_1271x606.png">
            <a:extLst>
              <a:ext uri="{FF2B5EF4-FFF2-40B4-BE49-F238E27FC236}">
                <a16:creationId xmlns:a16="http://schemas.microsoft.com/office/drawing/2014/main" id="{C5F8977A-DEEE-1B79-1755-C53960473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46" y="1682033"/>
            <a:ext cx="7405913" cy="3501915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B648C31D-4A36-8CB5-D998-389F24A84BC9}"/>
              </a:ext>
            </a:extLst>
          </p:cNvPr>
          <p:cNvSpPr/>
          <p:nvPr/>
        </p:nvSpPr>
        <p:spPr>
          <a:xfrm>
            <a:off x="7516368" y="14173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0C2A44"/>
                </a:solidFill>
              </a:rPr>
              <a:t>Key design choices</a:t>
            </a:r>
            <a:endParaRPr lang="en-US" sz="21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C3E9798-2D08-B317-F455-4A12FA6F0E57}"/>
              </a:ext>
            </a:extLst>
          </p:cNvPr>
          <p:cNvSpPr/>
          <p:nvPr/>
        </p:nvSpPr>
        <p:spPr>
          <a:xfrm>
            <a:off x="7479792" y="1920240"/>
            <a:ext cx="3886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3362A0F-84C9-6FEC-F277-5DC22694C9E3}"/>
              </a:ext>
            </a:extLst>
          </p:cNvPr>
          <p:cNvSpPr/>
          <p:nvPr/>
        </p:nvSpPr>
        <p:spPr>
          <a:xfrm>
            <a:off x="7644384" y="2029968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0A6A6"/>
                </a:solidFill>
              </a:rPr>
              <a:t>Analog output</a:t>
            </a:r>
            <a:endParaRPr lang="en-US" sz="16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9F75379-5BE8-EC74-9B74-4B5A04520CAB}"/>
              </a:ext>
            </a:extLst>
          </p:cNvPr>
          <p:cNvSpPr/>
          <p:nvPr/>
        </p:nvSpPr>
        <p:spPr>
          <a:xfrm>
            <a:off x="7644384" y="2359152"/>
            <a:ext cx="355701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02733"/>
                </a:solidFill>
              </a:rPr>
              <a:t>Full PCG waveform for filtering and S1/S2 detection.</a:t>
            </a:r>
            <a:endParaRPr lang="en-US" sz="12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A3B335D-FC1B-4F66-EAC0-CE966B43399A}"/>
              </a:ext>
            </a:extLst>
          </p:cNvPr>
          <p:cNvSpPr/>
          <p:nvPr/>
        </p:nvSpPr>
        <p:spPr>
          <a:xfrm>
            <a:off x="7479792" y="2816352"/>
            <a:ext cx="3886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7178490-E85E-7C66-89B3-8A889678264B}"/>
              </a:ext>
            </a:extLst>
          </p:cNvPr>
          <p:cNvSpPr/>
          <p:nvPr/>
        </p:nvSpPr>
        <p:spPr>
          <a:xfrm>
            <a:off x="7644384" y="2926080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1A73E8"/>
                </a:solidFill>
              </a:rPr>
              <a:t>C2 = 10 μF</a:t>
            </a:r>
            <a:endParaRPr lang="en-US" sz="16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FE87278-17A3-C467-7027-590FD1D529C8}"/>
              </a:ext>
            </a:extLst>
          </p:cNvPr>
          <p:cNvSpPr/>
          <p:nvPr/>
        </p:nvSpPr>
        <p:spPr>
          <a:xfrm>
            <a:off x="7651641" y="3189950"/>
            <a:ext cx="4159359" cy="26299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02733"/>
                </a:solidFill>
              </a:rPr>
              <a:t>Coupling capacitor removes unwanted DC component.</a:t>
            </a:r>
            <a:endParaRPr lang="en-US" sz="12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136D454-1645-FED2-4FDE-0B9593954C6E}"/>
              </a:ext>
            </a:extLst>
          </p:cNvPr>
          <p:cNvSpPr/>
          <p:nvPr/>
        </p:nvSpPr>
        <p:spPr>
          <a:xfrm>
            <a:off x="7479792" y="3712464"/>
            <a:ext cx="3886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A197E4D-D9F2-4137-A07B-240A9CBE0FF2}"/>
              </a:ext>
            </a:extLst>
          </p:cNvPr>
          <p:cNvSpPr/>
          <p:nvPr/>
        </p:nvSpPr>
        <p:spPr>
          <a:xfrm>
            <a:off x="7644384" y="3822192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7557F2"/>
                </a:solidFill>
              </a:rPr>
              <a:t>R1 = R2 = 2.2 kΩ</a:t>
            </a:r>
            <a:endParaRPr lang="en-US" sz="16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2144450-119B-CD25-B4B8-DFA5F510DFA6}"/>
              </a:ext>
            </a:extLst>
          </p:cNvPr>
          <p:cNvSpPr/>
          <p:nvPr/>
        </p:nvSpPr>
        <p:spPr>
          <a:xfrm>
            <a:off x="7644384" y="4151376"/>
            <a:ext cx="355701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02733"/>
                </a:solidFill>
              </a:rPr>
              <a:t>Voltage divider sends half of VBAT to the ADC.</a:t>
            </a:r>
            <a:endParaRPr lang="en-US" sz="12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FB1D3D1-FC9A-426B-9174-D2AE9C7902F6}"/>
              </a:ext>
            </a:extLst>
          </p:cNvPr>
          <p:cNvSpPr/>
          <p:nvPr/>
        </p:nvSpPr>
        <p:spPr>
          <a:xfrm>
            <a:off x="7479792" y="4773168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E7F0FE"/>
          </a:solidFill>
          <a:ln w="12700">
            <a:solidFill>
              <a:srgbClr val="E7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1699D1A-71D5-1B3C-083F-8F735DC2EE1A}"/>
              </a:ext>
            </a:extLst>
          </p:cNvPr>
          <p:cNvSpPr/>
          <p:nvPr/>
        </p:nvSpPr>
        <p:spPr>
          <a:xfrm>
            <a:off x="7662672" y="4882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80" b="1">
                <a:solidFill>
                  <a:srgbClr val="0C2A44"/>
                </a:solidFill>
              </a:rPr>
              <a:t>VADC = ½ VBAT  →  VBAT ≈ 2 × VADC</a:t>
            </a:r>
            <a:endParaRPr lang="en-US" sz="188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32DD790-FF99-009F-4133-9BE366569705}"/>
              </a:ext>
            </a:extLst>
          </p:cNvPr>
          <p:cNvSpPr/>
          <p:nvPr/>
        </p:nvSpPr>
        <p:spPr>
          <a:xfrm>
            <a:off x="7662672" y="5257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0758C"/>
                </a:solidFill>
              </a:rPr>
              <a:t>safe battery-level estimation</a:t>
            </a:r>
            <a:endParaRPr lang="en-US" sz="12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CD7A058-8C60-8CAC-2AF8-65B579FA62D4}"/>
              </a:ext>
            </a:extLst>
          </p:cNvPr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6DBCB9D-AF28-8CB3-18EA-35B363F58D29}"/>
              </a:ext>
            </a:extLst>
          </p:cNvPr>
          <p:cNvSpPr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60758C"/>
                </a:solidFill>
              </a:rPr>
              <a:t>Source figure: Report Fig. 1 — complete schematic</a:t>
            </a:r>
            <a:endParaRPr lang="en-US" sz="730"/>
          </a:p>
        </p:txBody>
      </p:sp>
    </p:spTree>
    <p:extLst>
      <p:ext uri="{BB962C8B-B14F-4D97-AF65-F5344CB8AC3E}">
        <p14:creationId xmlns:p14="http://schemas.microsoft.com/office/powerpoint/2010/main" val="338321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</a:rPr>
              <a:t>Hardware</a:t>
            </a:r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1201400" cy="0"/>
          </a:xfrm>
          <a:prstGeom prst="line">
            <a:avLst/>
          </a:prstGeom>
          <a:noFill/>
          <a:ln w="1270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>
                <a:solidFill>
                  <a:srgbClr val="0C2A44"/>
                </a:solidFill>
              </a:rPr>
              <a:t>PCB layout decisions</a:t>
            </a:r>
            <a:endParaRPr lang="en-US" sz="2900"/>
          </a:p>
        </p:txBody>
      </p:sp>
      <p:pic>
        <p:nvPicPr>
          <p:cNvPr id="5" name="Image 0" descr="/mnt/data/extracted/p5_img1_865x5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26084"/>
            <a:ext cx="7223760" cy="4568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3568" y="1042416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>
                <a:solidFill>
                  <a:srgbClr val="0C2A44"/>
                </a:solidFill>
              </a:rPr>
              <a:t>Organized for clarity,</a:t>
            </a:r>
            <a:endParaRPr lang="en-US" sz="2300"/>
          </a:p>
          <a:p>
            <a:pPr marL="0" indent="0">
              <a:buNone/>
            </a:pPr>
            <a:r>
              <a:rPr lang="en-US" sz="2300" b="1">
                <a:solidFill>
                  <a:srgbClr val="0C2A44"/>
                </a:solidFill>
              </a:rPr>
              <a:t>short routing, and assembly</a:t>
            </a:r>
            <a:endParaRPr lang="en-US" sz="2300"/>
          </a:p>
        </p:txBody>
      </p:sp>
      <p:sp>
        <p:nvSpPr>
          <p:cNvPr id="7" name="Shape 4"/>
          <p:cNvSpPr/>
          <p:nvPr/>
        </p:nvSpPr>
        <p:spPr>
          <a:xfrm>
            <a:off x="7973568" y="1993392"/>
            <a:ext cx="340156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38160" y="21031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1A73E8"/>
                </a:solidFill>
              </a:rPr>
              <a:t>Center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8138160" y="2432304"/>
            <a:ext cx="3072384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02733"/>
                </a:solidFill>
              </a:rPr>
              <a:t>ESP32 shortens routing to all modules.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7973568" y="2779776"/>
            <a:ext cx="340156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38160" y="2889504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7557F2"/>
                </a:solidFill>
              </a:rPr>
              <a:t>Left side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8138160" y="3218688"/>
            <a:ext cx="3072384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02733"/>
                </a:solidFill>
              </a:rPr>
              <a:t>Display and charger stay accessible.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7973568" y="3566160"/>
            <a:ext cx="340156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38160" y="367588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0A6A6"/>
                </a:solidFill>
              </a:rPr>
              <a:t>Right side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8138160" y="4005072"/>
            <a:ext cx="3072384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02733"/>
                </a:solidFill>
              </a:rPr>
              <a:t>Sensor stays functionally separated.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7973568" y="4352544"/>
            <a:ext cx="340156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138160" y="446227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2A900"/>
                </a:solidFill>
              </a:rPr>
              <a:t>Routing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8138160" y="4791456"/>
            <a:ext cx="3072384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202733"/>
                </a:solidFill>
              </a:rPr>
              <a:t>Wider power traces; direct sensor path.</a:t>
            </a:r>
            <a:endParaRPr lang="en-US" sz="1200"/>
          </a:p>
        </p:txBody>
      </p:sp>
      <p:sp>
        <p:nvSpPr>
          <p:cNvPr id="19" name="Shape 16"/>
          <p:cNvSpPr/>
          <p:nvPr/>
        </p:nvSpPr>
        <p:spPr>
          <a:xfrm>
            <a:off x="749808" y="5742432"/>
            <a:ext cx="672084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93000"/>
            </a:srgbClr>
          </a:solidFill>
          <a:ln w="1016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05256" y="58155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80" b="1">
                <a:solidFill>
                  <a:srgbClr val="202733"/>
                </a:solidFill>
              </a:rPr>
              <a:t>SMD passives reduce area; module mounting improves manual assembly.</a:t>
            </a:r>
            <a:endParaRPr lang="en-US" sz="1380"/>
          </a:p>
        </p:txBody>
      </p:sp>
      <p:sp>
        <p:nvSpPr>
          <p:cNvPr id="21" name="Shape 18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60758C"/>
                </a:solidFill>
              </a:rPr>
              <a:t>Source figure: Report Fig. 2 — two-dimensional PCB layout</a:t>
            </a:r>
            <a:endParaRPr lang="en-US" sz="730"/>
          </a:p>
        </p:txBody>
      </p:sp>
    </p:spTree>
    <p:extLst>
      <p:ext uri="{BB962C8B-B14F-4D97-AF65-F5344CB8AC3E}">
        <p14:creationId xmlns:p14="http://schemas.microsoft.com/office/powerpoint/2010/main" val="3674769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</a:rPr>
              <a:t>Hardware</a:t>
            </a:r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1201400" cy="0"/>
          </a:xfrm>
          <a:prstGeom prst="line">
            <a:avLst/>
          </a:prstGeom>
          <a:noFill/>
          <a:ln w="1270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>
                <a:solidFill>
                  <a:srgbClr val="0C2A44"/>
                </a:solidFill>
              </a:rPr>
              <a:t>Fabrication-ready hardware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C2A44"/>
                </a:solidFill>
              </a:rPr>
              <a:t>Schematic → PCB → 3D → manufacturing package</a:t>
            </a:r>
            <a:endParaRPr lang="en-US" sz="2200"/>
          </a:p>
        </p:txBody>
      </p:sp>
      <p:pic>
        <p:nvPicPr>
          <p:cNvPr id="6" name="Image 0" descr="/mnt/data/extracted/p6_img2_676x4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19290"/>
            <a:ext cx="5257800" cy="3243347"/>
          </a:xfrm>
          <a:prstGeom prst="rect">
            <a:avLst/>
          </a:prstGeom>
        </p:spPr>
      </p:pic>
      <p:pic>
        <p:nvPicPr>
          <p:cNvPr id="7" name="Image 1" descr="/mnt/data/extracted/p8_img1_1441x2560.jpeg"/>
          <p:cNvPicPr>
            <a:picLocks noChangeAspect="1"/>
          </p:cNvPicPr>
          <p:nvPr/>
        </p:nvPicPr>
        <p:blipFill>
          <a:blip r:embed="rId4"/>
          <a:srcRect l="7000" t="15000" r="18091" b="13000"/>
          <a:stretch/>
        </p:blipFill>
        <p:spPr>
          <a:xfrm>
            <a:off x="6327648" y="1481328"/>
            <a:ext cx="1938528" cy="3310128"/>
          </a:xfrm>
          <a:prstGeom prst="rect">
            <a:avLst/>
          </a:prstGeom>
        </p:spPr>
      </p:pic>
      <p:pic>
        <p:nvPicPr>
          <p:cNvPr id="8" name="Image 2" descr="/mnt/data/extracted/p8_img2_1441x2560.jpeg"/>
          <p:cNvPicPr>
            <a:picLocks noChangeAspect="1"/>
          </p:cNvPicPr>
          <p:nvPr/>
        </p:nvPicPr>
        <p:blipFill>
          <a:blip r:embed="rId5"/>
          <a:srcRect l="18000" t="12000" r="7091" b="16000"/>
          <a:stretch/>
        </p:blipFill>
        <p:spPr>
          <a:xfrm>
            <a:off x="8577072" y="1481328"/>
            <a:ext cx="1938528" cy="33101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01952" y="48554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0758C"/>
                </a:solidFill>
              </a:rPr>
              <a:t>3D PCB check</a:t>
            </a:r>
            <a:endParaRPr lang="en-US" sz="1300"/>
          </a:p>
        </p:txBody>
      </p:sp>
      <p:sp>
        <p:nvSpPr>
          <p:cNvPr id="10" name="Text 5"/>
          <p:cNvSpPr/>
          <p:nvPr/>
        </p:nvSpPr>
        <p:spPr>
          <a:xfrm>
            <a:off x="6327648" y="485546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0758C"/>
                </a:solidFill>
              </a:rPr>
              <a:t>Box enclosure</a:t>
            </a:r>
            <a:endParaRPr lang="en-US" sz="1300"/>
          </a:p>
        </p:txBody>
      </p:sp>
      <p:sp>
        <p:nvSpPr>
          <p:cNvPr id="11" name="Text 6"/>
          <p:cNvSpPr/>
          <p:nvPr/>
        </p:nvSpPr>
        <p:spPr>
          <a:xfrm>
            <a:off x="8577072" y="485546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0758C"/>
                </a:solidFill>
              </a:rPr>
              <a:t>Prototype</a:t>
            </a:r>
            <a:endParaRPr lang="en-US" sz="1300"/>
          </a:p>
        </p:txBody>
      </p:sp>
      <p:sp>
        <p:nvSpPr>
          <p:cNvPr id="12" name="Text 7"/>
          <p:cNvSpPr/>
          <p:nvPr/>
        </p:nvSpPr>
        <p:spPr>
          <a:xfrm>
            <a:off x="612648" y="5513832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>
                <a:solidFill>
                  <a:srgbClr val="1A73E8"/>
                </a:solidFill>
              </a:rPr>
              <a:t>DRC</a:t>
            </a:r>
            <a:endParaRPr lang="en-US" sz="1620"/>
          </a:p>
        </p:txBody>
      </p:sp>
      <p:sp>
        <p:nvSpPr>
          <p:cNvPr id="13" name="Text 8"/>
          <p:cNvSpPr/>
          <p:nvPr/>
        </p:nvSpPr>
        <p:spPr>
          <a:xfrm>
            <a:off x="612648" y="585216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202733"/>
                </a:solidFill>
              </a:rPr>
              <a:t>0 violations</a:t>
            </a:r>
            <a:endParaRPr lang="en-US" sz="1300"/>
          </a:p>
        </p:txBody>
      </p:sp>
      <p:sp>
        <p:nvSpPr>
          <p:cNvPr id="14" name="Text 9"/>
          <p:cNvSpPr/>
          <p:nvPr/>
        </p:nvSpPr>
        <p:spPr>
          <a:xfrm>
            <a:off x="2916936" y="5513832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>
                <a:solidFill>
                  <a:srgbClr val="00A6A6"/>
                </a:solidFill>
              </a:rPr>
              <a:t>Gerber</a:t>
            </a:r>
            <a:endParaRPr lang="en-US" sz="1620"/>
          </a:p>
        </p:txBody>
      </p:sp>
      <p:sp>
        <p:nvSpPr>
          <p:cNvPr id="15" name="Text 10"/>
          <p:cNvSpPr/>
          <p:nvPr/>
        </p:nvSpPr>
        <p:spPr>
          <a:xfrm>
            <a:off x="2916936" y="585216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202733"/>
                </a:solidFill>
              </a:rPr>
              <a:t>PCB layers</a:t>
            </a:r>
            <a:endParaRPr lang="en-US" sz="1300"/>
          </a:p>
        </p:txBody>
      </p:sp>
      <p:sp>
        <p:nvSpPr>
          <p:cNvPr id="16" name="Text 11"/>
          <p:cNvSpPr/>
          <p:nvPr/>
        </p:nvSpPr>
        <p:spPr>
          <a:xfrm>
            <a:off x="5221224" y="5513832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>
                <a:solidFill>
                  <a:srgbClr val="7557F2"/>
                </a:solidFill>
              </a:rPr>
              <a:t>NC Drill</a:t>
            </a:r>
            <a:endParaRPr lang="en-US" sz="1620"/>
          </a:p>
        </p:txBody>
      </p:sp>
      <p:sp>
        <p:nvSpPr>
          <p:cNvPr id="17" name="Text 12"/>
          <p:cNvSpPr/>
          <p:nvPr/>
        </p:nvSpPr>
        <p:spPr>
          <a:xfrm>
            <a:off x="5221224" y="585216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202733"/>
                </a:solidFill>
              </a:rPr>
              <a:t>holes</a:t>
            </a:r>
            <a:endParaRPr lang="en-US" sz="1300"/>
          </a:p>
        </p:txBody>
      </p:sp>
      <p:sp>
        <p:nvSpPr>
          <p:cNvPr id="18" name="Text 13"/>
          <p:cNvSpPr/>
          <p:nvPr/>
        </p:nvSpPr>
        <p:spPr>
          <a:xfrm>
            <a:off x="7525512" y="5513832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>
                <a:solidFill>
                  <a:srgbClr val="F2A900"/>
                </a:solidFill>
              </a:rPr>
              <a:t>BOM</a:t>
            </a:r>
            <a:endParaRPr lang="en-US" sz="1620"/>
          </a:p>
        </p:txBody>
      </p:sp>
      <p:sp>
        <p:nvSpPr>
          <p:cNvPr id="19" name="Text 14"/>
          <p:cNvSpPr/>
          <p:nvPr/>
        </p:nvSpPr>
        <p:spPr>
          <a:xfrm>
            <a:off x="7525512" y="585216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202733"/>
                </a:solidFill>
              </a:rPr>
              <a:t>components</a:t>
            </a:r>
            <a:endParaRPr lang="en-US" sz="1300"/>
          </a:p>
        </p:txBody>
      </p:sp>
      <p:sp>
        <p:nvSpPr>
          <p:cNvPr id="20" name="Text 15"/>
          <p:cNvSpPr/>
          <p:nvPr/>
        </p:nvSpPr>
        <p:spPr>
          <a:xfrm>
            <a:off x="9829800" y="5513832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>
                <a:solidFill>
                  <a:srgbClr val="1E9B4C"/>
                </a:solidFill>
              </a:rPr>
              <a:t>Pick-place</a:t>
            </a:r>
            <a:endParaRPr lang="en-US" sz="1620"/>
          </a:p>
        </p:txBody>
      </p:sp>
      <p:sp>
        <p:nvSpPr>
          <p:cNvPr id="21" name="Text 16"/>
          <p:cNvSpPr/>
          <p:nvPr/>
        </p:nvSpPr>
        <p:spPr>
          <a:xfrm>
            <a:off x="9829800" y="585216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202733"/>
                </a:solidFill>
              </a:rPr>
              <a:t>coordinates</a:t>
            </a:r>
            <a:endParaRPr lang="en-US" sz="1300"/>
          </a:p>
        </p:txBody>
      </p:sp>
      <p:sp>
        <p:nvSpPr>
          <p:cNvPr id="22" name="Shape 17"/>
          <p:cNvSpPr/>
          <p:nvPr/>
        </p:nvSpPr>
        <p:spPr>
          <a:xfrm>
            <a:off x="502920" y="6428232"/>
            <a:ext cx="11201400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02920" y="65196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60758C"/>
                </a:solidFill>
              </a:rPr>
              <a:t>Source figures: Report Figs. 4 and 5 — 3D PCB and final product implementation</a:t>
            </a:r>
            <a:endParaRPr lang="en-US" sz="730"/>
          </a:p>
        </p:txBody>
      </p:sp>
    </p:spTree>
    <p:extLst>
      <p:ext uri="{BB962C8B-B14F-4D97-AF65-F5344CB8AC3E}">
        <p14:creationId xmlns:p14="http://schemas.microsoft.com/office/powerpoint/2010/main" val="885107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7DE2D1"/>
                </a:solidFill>
              </a:rPr>
              <a:t>03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Firmware and acquisition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834640" cy="0"/>
          </a:xfrm>
          <a:prstGeom prst="line">
            <a:avLst/>
          </a:prstGeom>
          <a:noFill/>
          <a:ln w="508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595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D9E8FF"/>
                </a:solidFill>
              </a:rPr>
              <a:t>Timer-driven sampling, oversampling, packetization, and BLE streaming.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89320" y="4133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>
                <a:solidFill>
                  <a:srgbClr val="64748B"/>
                </a:solidFill>
              </a:rPr>
              <a:t>Layered firmware architecture and data path</a:t>
            </a:r>
            <a:endParaRPr lang="en-US" sz="950"/>
          </a:p>
        </p:txBody>
      </p:sp>
      <p:sp>
        <p:nvSpPr>
          <p:cNvPr id="11" name="Shape 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5634" y="658083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Source figure: Report Fig. 6</a:t>
            </a:r>
            <a:endParaRPr lang="en-US" sz="1400"/>
          </a:p>
        </p:txBody>
      </p:sp>
      <p:pic>
        <p:nvPicPr>
          <p:cNvPr id="7" name="Picture 6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8E577CBF-7CB7-45F3-CF3E-00F60FA42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018"/>
            <a:ext cx="12192000" cy="65060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Firmware state machine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14600" y="1712143"/>
            <a:ext cx="457200" cy="0"/>
          </a:xfrm>
          <a:prstGeom prst="line">
            <a:avLst/>
          </a:prstGeom>
          <a:noFill/>
          <a:ln w="20320">
            <a:solidFill>
              <a:srgbClr val="1A73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0" y="1712143"/>
            <a:ext cx="457200" cy="0"/>
          </a:xfrm>
          <a:prstGeom prst="line">
            <a:avLst/>
          </a:prstGeom>
          <a:noFill/>
          <a:ln w="20320">
            <a:solidFill>
              <a:srgbClr val="1A73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78040" y="1712143"/>
            <a:ext cx="731520" cy="0"/>
          </a:xfrm>
          <a:prstGeom prst="line">
            <a:avLst/>
          </a:prstGeom>
          <a:noFill/>
          <a:ln w="20320">
            <a:solidFill>
              <a:srgbClr val="1A73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346383"/>
            <a:ext cx="1828800" cy="731520"/>
          </a:xfrm>
          <a:prstGeom prst="rect">
            <a:avLst/>
          </a:prstGeom>
          <a:solidFill>
            <a:srgbClr val="EA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INITIALIZING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3154680" y="1346383"/>
            <a:ext cx="1828800" cy="731520"/>
          </a:xfrm>
          <a:prstGeom prst="rect">
            <a:avLst/>
          </a:prstGeom>
          <a:solidFill>
            <a:srgbClr val="E8F7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IDLE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advertising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5486400" y="1346383"/>
            <a:ext cx="1828800" cy="731520"/>
          </a:xfrm>
          <a:prstGeom prst="rect">
            <a:avLst/>
          </a:prstGeom>
          <a:solidFill>
            <a:srgbClr val="EA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for command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8092440" y="1346383"/>
            <a:ext cx="1828800" cy="731520"/>
          </a:xfrm>
          <a:prstGeom prst="rect">
            <a:avLst/>
          </a:prstGeom>
          <a:solidFill>
            <a:srgbClr val="E8F7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ANALYZING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+ streaming</a:t>
            </a:r>
            <a:endParaRPr lang="en-US" sz="1350"/>
          </a:p>
        </p:txBody>
      </p:sp>
      <p:pic>
        <p:nvPicPr>
          <p:cNvPr id="12" name="Image 0" descr="/mnt/data/pcg_assets/fig07_firmware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654" y="2548523"/>
            <a:ext cx="6913512" cy="345296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5411" y="6002047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i="1">
                <a:solidFill>
                  <a:srgbClr val="64748B"/>
                </a:solidFill>
              </a:rPr>
              <a:t>Control sequence from boot to BLE acquisition stop</a:t>
            </a:r>
            <a:endParaRPr lang="en-US" sz="1600"/>
          </a:p>
        </p:txBody>
      </p:sp>
      <p:sp>
        <p:nvSpPr>
          <p:cNvPr id="14" name="Shape 1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Source figure: Report Fig. 7</a:t>
            </a:r>
            <a:endParaRPr lang="en-US" sz="8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BLE command and sample packet format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325880"/>
            <a:ext cx="640080" cy="658368"/>
          </a:xfrm>
          <a:prstGeom prst="rect">
            <a:avLst/>
          </a:prstGeom>
          <a:solidFill>
            <a:srgbClr val="EA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0</a:t>
            </a:r>
            <a:endParaRPr lang="en-US" sz="1070"/>
          </a:p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type</a:t>
            </a:r>
            <a:endParaRPr lang="en-US" sz="1070"/>
          </a:p>
        </p:txBody>
      </p:sp>
      <p:sp>
        <p:nvSpPr>
          <p:cNvPr id="8" name="Text 5"/>
          <p:cNvSpPr/>
          <p:nvPr/>
        </p:nvSpPr>
        <p:spPr>
          <a:xfrm>
            <a:off x="1417320" y="1325880"/>
            <a:ext cx="1508760" cy="658368"/>
          </a:xfrm>
          <a:prstGeom prst="rect">
            <a:avLst/>
          </a:prstGeom>
          <a:solidFill>
            <a:srgbClr val="E8F7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1-4</a:t>
            </a:r>
            <a:endParaRPr lang="en-US" sz="1070"/>
          </a:p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sample rate</a:t>
            </a:r>
            <a:endParaRPr lang="en-US" sz="1070"/>
          </a:p>
        </p:txBody>
      </p:sp>
      <p:sp>
        <p:nvSpPr>
          <p:cNvPr id="9" name="Text 6"/>
          <p:cNvSpPr/>
          <p:nvPr/>
        </p:nvSpPr>
        <p:spPr>
          <a:xfrm>
            <a:off x="3017520" y="1325880"/>
            <a:ext cx="1508760" cy="658368"/>
          </a:xfrm>
          <a:prstGeom prst="rect">
            <a:avLst/>
          </a:prstGeom>
          <a:solidFill>
            <a:srgbClr val="EA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5-6</a:t>
            </a:r>
            <a:endParaRPr lang="en-US" sz="1070"/>
          </a:p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oversampling</a:t>
            </a:r>
            <a:endParaRPr lang="en-US" sz="1070"/>
          </a:p>
        </p:txBody>
      </p:sp>
      <p:sp>
        <p:nvSpPr>
          <p:cNvPr id="10" name="Text 7"/>
          <p:cNvSpPr/>
          <p:nvPr/>
        </p:nvSpPr>
        <p:spPr>
          <a:xfrm>
            <a:off x="4617720" y="1325880"/>
            <a:ext cx="1234440" cy="658368"/>
          </a:xfrm>
          <a:prstGeom prst="rect">
            <a:avLst/>
          </a:prstGeom>
          <a:solidFill>
            <a:srgbClr val="E8F7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7-8</a:t>
            </a:r>
            <a:endParaRPr lang="en-US" sz="1070"/>
          </a:p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batch size</a:t>
            </a:r>
            <a:endParaRPr lang="en-US" sz="1070"/>
          </a:p>
        </p:txBody>
      </p:sp>
      <p:sp>
        <p:nvSpPr>
          <p:cNvPr id="11" name="Text 8"/>
          <p:cNvSpPr/>
          <p:nvPr/>
        </p:nvSpPr>
        <p:spPr>
          <a:xfrm>
            <a:off x="5943600" y="1325880"/>
            <a:ext cx="1143000" cy="658368"/>
          </a:xfrm>
          <a:prstGeom prst="rect">
            <a:avLst/>
          </a:prstGeom>
          <a:solidFill>
            <a:srgbClr val="EA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9-12</a:t>
            </a:r>
            <a:endParaRPr lang="en-US" sz="1070"/>
          </a:p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duration</a:t>
            </a:r>
            <a:endParaRPr lang="en-US" sz="1070"/>
          </a:p>
        </p:txBody>
      </p:sp>
      <p:sp>
        <p:nvSpPr>
          <p:cNvPr id="12" name="Text 9"/>
          <p:cNvSpPr/>
          <p:nvPr/>
        </p:nvSpPr>
        <p:spPr>
          <a:xfrm>
            <a:off x="7178040" y="1325880"/>
            <a:ext cx="1600200" cy="658368"/>
          </a:xfrm>
          <a:prstGeom prst="rect">
            <a:avLst/>
          </a:prstGeom>
          <a:solidFill>
            <a:srgbClr val="E8F7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13-28</a:t>
            </a:r>
            <a:endParaRPr lang="en-US" sz="1070"/>
          </a:p>
          <a:p>
            <a:pPr marL="0" indent="0" algn="ctr">
              <a:buNone/>
            </a:pPr>
            <a:r>
              <a:rPr lang="en-US" sz="1070" b="1">
                <a:solidFill>
                  <a:srgbClr val="09233F"/>
                </a:solidFill>
              </a:rPr>
              <a:t>patient name</a:t>
            </a:r>
            <a:endParaRPr lang="en-US" sz="1070"/>
          </a:p>
        </p:txBody>
      </p:sp>
      <p:sp>
        <p:nvSpPr>
          <p:cNvPr id="13" name="Text 10"/>
          <p:cNvSpPr/>
          <p:nvPr/>
        </p:nvSpPr>
        <p:spPr>
          <a:xfrm>
            <a:off x="685800" y="21945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73E8"/>
                </a:solidFill>
              </a:rPr>
              <a:t>START command: minimum 29 bytes, decoded by parseStartCommand()</a:t>
            </a:r>
            <a:endParaRPr lang="en-US" sz="1700"/>
          </a:p>
        </p:txBody>
      </p:sp>
      <p:sp>
        <p:nvSpPr>
          <p:cNvPr id="14" name="Text 11"/>
          <p:cNvSpPr/>
          <p:nvPr/>
        </p:nvSpPr>
        <p:spPr>
          <a:xfrm>
            <a:off x="685800" y="2927934"/>
            <a:ext cx="6192794" cy="16969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2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BLE notification payload contains consecutive uint16_t raw ADC samples.</a:t>
            </a:r>
            <a:endParaRPr lang="en-US" sz="1620"/>
          </a:p>
          <a:p>
            <a:pPr marL="0" indent="0">
              <a:buNone/>
            </a:pPr>
            <a:r>
              <a:rPr lang="en-US" sz="162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Maximum deployed payload = 2 × batch size = 12 bytes.</a:t>
            </a:r>
            <a:endParaRPr lang="en-US" sz="1620"/>
          </a:p>
          <a:p>
            <a:pPr marL="0" indent="0">
              <a:buNone/>
            </a:pPr>
            <a:r>
              <a:rPr lang="en-US" sz="162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application header, timestamp, sequence number, checksum, or explicit end marker in the deployed BLE stream.</a:t>
            </a:r>
            <a:endParaRPr lang="en-US" sz="1620"/>
          </a:p>
          <a:p>
            <a:pPr marL="0" indent="0">
              <a:buNone/>
            </a:pPr>
            <a:r>
              <a:rPr lang="en-US" sz="162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Receiver reconstructs time from the configured sampling rate.</a:t>
            </a:r>
            <a:endParaRPr lang="en-US" sz="1620"/>
          </a:p>
        </p:txBody>
      </p:sp>
      <p:sp>
        <p:nvSpPr>
          <p:cNvPr id="15" name="Shape 1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Digital Phonocardiography System | Lab of Internet of Medical Things</a:t>
            </a:r>
            <a:endParaRPr lang="en-US" sz="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9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7DE2D1"/>
                </a:solidFill>
              </a:rPr>
              <a:t>05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Communication protocol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834640" cy="0"/>
          </a:xfrm>
          <a:prstGeom prst="line">
            <a:avLst/>
          </a:prstGeom>
          <a:noFill/>
          <a:ln w="508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595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D9E8FF"/>
                </a:solidFill>
              </a:rPr>
              <a:t>Selecting the transport layer through power, throughput, and packet-loss benchmarks.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9233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Experimental communication benchmark</a:t>
            </a:r>
            <a:endParaRPr lang="en-US" sz="2800">
              <a:latin typeface="Aptos Display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cg_assets/fig18_power_b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830" y="833846"/>
            <a:ext cx="3700780" cy="48956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91961" y="5837065"/>
            <a:ext cx="5430519" cy="484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i="1">
                <a:solidFill>
                  <a:srgbClr val="64748B"/>
                </a:solidFill>
              </a:rPr>
              <a:t>Power measurement laboratory bench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685800" y="1188720"/>
            <a:ext cx="5881188" cy="3276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Four methods were compared: USB Serial, BLE, Wi-Fi UDP, and Wi-Fi TCP.</a:t>
            </a:r>
            <a:endParaRPr lang="en-US" sz="2000">
              <a:latin typeface="Aptos"/>
            </a:endParaRPr>
          </a:p>
          <a:p>
            <a:pPr marL="0" indent="0">
              <a:buNone/>
            </a:pPr>
            <a:r>
              <a:rPr lang="en-US" sz="20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All wireless benchmark variants used the same batch size, oversampling factor and structured packet format.</a:t>
            </a:r>
            <a:endParaRPr lang="en-US" sz="2000">
              <a:latin typeface="Aptos"/>
            </a:endParaRPr>
          </a:p>
          <a:p>
            <a:pPr marL="0" indent="0">
              <a:buNone/>
            </a:pPr>
            <a:r>
              <a:rPr lang="en-US" sz="20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The benchmark packet included header, sequence number, count, and 6 raw uint16 samples.</a:t>
            </a:r>
            <a:endParaRPr lang="en-US" sz="2000">
              <a:latin typeface="Aptos"/>
            </a:endParaRPr>
          </a:p>
          <a:p>
            <a:pPr marL="0" indent="0">
              <a:buNone/>
            </a:pPr>
            <a:r>
              <a:rPr lang="en-US" sz="20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Sequence number allowed receiver-side loss detection.</a:t>
            </a:r>
            <a:endParaRPr lang="en-US" sz="2000">
              <a:latin typeface="Aptos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4892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73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 bytes</a:t>
            </a:r>
            <a:endParaRPr lang="en-US" sz="2800"/>
          </a:p>
        </p:txBody>
      </p:sp>
      <p:sp>
        <p:nvSpPr>
          <p:cNvPr id="9" name="Text 6"/>
          <p:cNvSpPr/>
          <p:nvPr/>
        </p:nvSpPr>
        <p:spPr>
          <a:xfrm>
            <a:off x="914400" y="5394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  <a:latin typeface="Aptos"/>
                <a:ea typeface="Aptos" pitchFamily="34" charset="-122"/>
                <a:cs typeface="Aptos" pitchFamily="34" charset="-120"/>
              </a:rPr>
              <a:t>benchmark packet length</a:t>
            </a:r>
            <a:endParaRPr lang="en-US" sz="1400">
              <a:latin typeface="Apto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246120" y="4892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800"/>
          </a:p>
        </p:txBody>
      </p:sp>
      <p:sp>
        <p:nvSpPr>
          <p:cNvPr id="11" name="Text 8"/>
          <p:cNvSpPr/>
          <p:nvPr/>
        </p:nvSpPr>
        <p:spPr>
          <a:xfrm>
            <a:off x="3246120" y="5394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  <a:latin typeface="Aptos"/>
                <a:ea typeface="Aptos" pitchFamily="34" charset="-122"/>
                <a:cs typeface="Aptos" pitchFamily="34" charset="-120"/>
              </a:rPr>
              <a:t>samples per packet</a:t>
            </a:r>
            <a:endParaRPr lang="en-US" sz="1400">
              <a:latin typeface="Apto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9233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Power consumption comparison</a:t>
            </a:r>
            <a:endParaRPr lang="en-US" sz="2800">
              <a:latin typeface="Aptos Display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143000"/>
          <a:ext cx="6583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823200" y="1371600"/>
            <a:ext cx="3801291" cy="26996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Serial and BLE connected were the lowest-power modes.</a:t>
            </a:r>
            <a:endParaRPr lang="en-US">
              <a:latin typeface="Aptos"/>
            </a:endParaRPr>
          </a:p>
          <a:p>
            <a:pPr marL="0" indent="0">
              <a:buNone/>
            </a:pPr>
            <a:r>
              <a:rPr lang="en-US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Active Wi-Fi TCP/UDP required almost twice the power of BLE connected.</a:t>
            </a:r>
            <a:endParaRPr lang="en-US">
              <a:latin typeface="Aptos"/>
            </a:endParaRPr>
          </a:p>
          <a:p>
            <a:pPr marL="0" indent="0">
              <a:buNone/>
            </a:pPr>
            <a:r>
              <a:rPr lang="en-US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BLE advertising power depends on advertising interval, but advertising is transient and stops after connection.</a:t>
            </a:r>
            <a:endParaRPr lang="en-US">
              <a:latin typeface="Apto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863840" y="4343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306 mW</a:t>
            </a:r>
            <a:endParaRPr lang="en-US" sz="2800"/>
          </a:p>
        </p:txBody>
      </p:sp>
      <p:sp>
        <p:nvSpPr>
          <p:cNvPr id="8" name="Text 5"/>
          <p:cNvSpPr/>
          <p:nvPr/>
        </p:nvSpPr>
        <p:spPr>
          <a:xfrm>
            <a:off x="7863840" y="4846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 connected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9692640" y="4343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E457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600 mW</a:t>
            </a:r>
            <a:endParaRPr lang="en-US" sz="2800"/>
          </a:p>
        </p:txBody>
      </p:sp>
      <p:sp>
        <p:nvSpPr>
          <p:cNvPr id="10" name="Text 7"/>
          <p:cNvSpPr/>
          <p:nvPr/>
        </p:nvSpPr>
        <p:spPr>
          <a:xfrm>
            <a:off x="9692640" y="4846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Wi-Fi UDP active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9233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Throughput and packet-loss results</a:t>
            </a:r>
            <a:endParaRPr lang="en-US" sz="2800">
              <a:latin typeface="Aptos Display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32880" y="1712988"/>
            <a:ext cx="4889500" cy="408837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/>
              <a:t>At the selected 500 Hz operating point, Serial, BLE, and TCP delivered the target rate with no receiver-side loss.</a:t>
            </a:r>
          </a:p>
          <a:p>
            <a:pPr marL="0" indent="0">
              <a:buNone/>
            </a:pPr>
            <a:r>
              <a:rPr lang="en-US" sz="16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BLE also handled 1000 Hz correctly; at 2000 Hz the sender could not keep up.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UDP showed high receiver-side loss in the tested broadcast configuration and requires unicast re-evaluation.</a:t>
            </a:r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866306B4-9CD8-11EA-2B45-0412C6422777}"/>
              </a:ext>
            </a:extLst>
          </p:cNvPr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1050"/>
          </a:p>
        </p:txBody>
      </p:sp>
      <p:pic>
        <p:nvPicPr>
          <p:cNvPr id="3" name="Picture 2" descr="A table of numbers and symbols&#10;&#10;AI-generated content may be incorrect.">
            <a:extLst>
              <a:ext uri="{FF2B5EF4-FFF2-40B4-BE49-F238E27FC236}">
                <a16:creationId xmlns:a16="http://schemas.microsoft.com/office/drawing/2014/main" id="{CD13AE8C-535B-03FE-84BF-7C4926D8B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97" y="1561193"/>
            <a:ext cx="6182178" cy="33292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483" y="246127"/>
            <a:ext cx="8680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8"/>
                </a:solidFill>
              </a:defRPr>
            </a:pPr>
            <a:r>
              <a:rPr lang="en-GB" sz="2800"/>
              <a:t>BLE Advertising Interval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483" y="137938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Power Consumption vs. Discovery Time Trade-off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86068"/>
              </p:ext>
            </p:extLst>
          </p:nvPr>
        </p:nvGraphicFramePr>
        <p:xfrm>
          <a:off x="6794444" y="1562261"/>
          <a:ext cx="4976023" cy="3062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2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759"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rgbClr val="FFFFFF"/>
                          </a:solidFill>
                        </a:rPr>
                        <a:t>Interval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rgbClr val="FFFFFF"/>
                          </a:solidFill>
                        </a:rPr>
                        <a:t>Register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rgbClr val="FFFFFF"/>
                          </a:solidFill>
                        </a:rPr>
                        <a:t>Power (mW)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rgbClr val="FFFFFF"/>
                          </a:solidFill>
                        </a:rPr>
                        <a:t>Discovery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7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20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0x20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~380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~0.04s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7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40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0x40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~370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~0.08s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7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 b="1">
                          <a:solidFill>
                            <a:srgbClr val="1F4E78"/>
                          </a:solidFill>
                        </a:rPr>
                        <a:t>100 ms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 b="1">
                          <a:solidFill>
                            <a:srgbClr val="1F4E78"/>
                          </a:solidFill>
                        </a:rPr>
                        <a:t>0xA0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 b="1">
                          <a:solidFill>
                            <a:srgbClr val="1F4E78"/>
                          </a:solidFill>
                        </a:rPr>
                        <a:t>~318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 b="1">
                          <a:solidFill>
                            <a:srgbClr val="1F4E78"/>
                          </a:solidFill>
                        </a:rPr>
                        <a:t>~0.2s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7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200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0xC8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~309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~0.4s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7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1000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0xFA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~302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600"/>
                        <a:t>~2s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483" y="1920240"/>
            <a:ext cx="6141397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E78"/>
                </a:solidFill>
              </a:defRPr>
            </a:pPr>
            <a:r>
              <a:rPr sz="1600"/>
              <a:t>Why 100 </a:t>
            </a:r>
            <a:r>
              <a:rPr sz="1600" err="1"/>
              <a:t>ms</a:t>
            </a:r>
            <a:r>
              <a:rPr sz="1600"/>
              <a:t>?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rPr sz="1600"/>
              <a:t>✓ Balanced trade-off: Power ≈ 318 </a:t>
            </a:r>
            <a:r>
              <a:rPr sz="1600" err="1"/>
              <a:t>mW</a:t>
            </a:r>
            <a:r>
              <a:rPr sz="1600"/>
              <a:t> vs. 300 </a:t>
            </a:r>
            <a:r>
              <a:rPr sz="1600" err="1"/>
              <a:t>mW</a:t>
            </a:r>
            <a:r>
              <a:rPr sz="1600"/>
              <a:t> floor (only 18 </a:t>
            </a:r>
            <a:r>
              <a:rPr sz="1600" err="1"/>
              <a:t>mW</a:t>
            </a:r>
            <a:r>
              <a:rPr sz="1600"/>
              <a:t> overhead)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rPr sz="1600"/>
              <a:t>✓ Fast discovery: ~0.1–0.2 s typical, acceptable for medical use case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rPr sz="1600"/>
              <a:t>✓ Advertising is transient state: Device enters CONNECTED state quickly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rPr sz="1600"/>
              <a:t>✓ Lower intervals (20–40 </a:t>
            </a:r>
            <a:r>
              <a:rPr sz="1600" err="1"/>
              <a:t>ms</a:t>
            </a:r>
            <a:r>
              <a:rPr sz="1600"/>
              <a:t>) add 50–80 </a:t>
            </a:r>
            <a:r>
              <a:rPr sz="1600" err="1"/>
              <a:t>mW</a:t>
            </a:r>
            <a:r>
              <a:rPr sz="1600"/>
              <a:t> with minimal gain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rPr sz="1600"/>
              <a:t>✓ Higher intervals (200+ </a:t>
            </a:r>
            <a:r>
              <a:rPr sz="1600" err="1"/>
              <a:t>ms</a:t>
            </a:r>
            <a:r>
              <a:rPr sz="1600"/>
              <a:t>) save &lt;10 </a:t>
            </a:r>
            <a:r>
              <a:rPr sz="1600" err="1"/>
              <a:t>mW</a:t>
            </a:r>
            <a:r>
              <a:rPr sz="1600"/>
              <a:t> but slow discovery significantly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rPr sz="1600"/>
              <a:t>✓ 100 </a:t>
            </a:r>
            <a:r>
              <a:rPr sz="1600" err="1"/>
              <a:t>ms</a:t>
            </a:r>
            <a:r>
              <a:rPr sz="1600"/>
              <a:t> provides optimal balance for wearable IoMT platform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2243D87-9315-C92C-2BC6-508A8F204593}"/>
              </a:ext>
            </a:extLst>
          </p:cNvPr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105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7C0B06AA-3120-1239-F0D7-B41A63C7805A}"/>
              </a:ext>
            </a:extLst>
          </p:cNvPr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C57E16D-7E81-2341-A341-FC03020F67B2}"/>
              </a:ext>
            </a:extLst>
          </p:cNvPr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9233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Why BLE was selected</a:t>
            </a:r>
            <a:endParaRPr lang="en-US" sz="2800">
              <a:latin typeface="Aptos Display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64748B"/>
                </a:solidFill>
              </a:rPr>
              <a:t>Serial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70">
                <a:solidFill>
                  <a:srgbClr val="111827"/>
                </a:solidFill>
              </a:rPr>
              <a:t>Stable but wired</a:t>
            </a:r>
            <a:endParaRPr lang="en-US" sz="1470"/>
          </a:p>
        </p:txBody>
      </p:sp>
      <p:sp>
        <p:nvSpPr>
          <p:cNvPr id="7" name="Text 5"/>
          <p:cNvSpPr/>
          <p:nvPr/>
        </p:nvSpPr>
        <p:spPr>
          <a:xfrm>
            <a:off x="361188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B000"/>
                </a:solidFill>
              </a:rPr>
              <a:t>UDP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361188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70">
                <a:solidFill>
                  <a:srgbClr val="111827"/>
                </a:solidFill>
              </a:rPr>
              <a:t>Low-latency potential but high loss in current setup</a:t>
            </a:r>
            <a:endParaRPr lang="en-US" sz="1470"/>
          </a:p>
        </p:txBody>
      </p:sp>
      <p:sp>
        <p:nvSpPr>
          <p:cNvPr id="9" name="Text 7"/>
          <p:cNvSpPr/>
          <p:nvPr/>
        </p:nvSpPr>
        <p:spPr>
          <a:xfrm>
            <a:off x="64465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7B61FF"/>
                </a:solidFill>
              </a:rPr>
              <a:t>TCP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644652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70">
                <a:solidFill>
                  <a:srgbClr val="111827"/>
                </a:solidFill>
              </a:rPr>
              <a:t>Reliable ordering but higher power and earlier saturation</a:t>
            </a:r>
            <a:endParaRPr lang="en-US" sz="1470"/>
          </a:p>
        </p:txBody>
      </p:sp>
      <p:sp>
        <p:nvSpPr>
          <p:cNvPr id="11" name="Text 9"/>
          <p:cNvSpPr/>
          <p:nvPr/>
        </p:nvSpPr>
        <p:spPr>
          <a:xfrm>
            <a:off x="928116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A244"/>
                </a:solidFill>
              </a:rPr>
              <a:t>BLE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928116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70">
                <a:solidFill>
                  <a:srgbClr val="111827"/>
                </a:solidFill>
              </a:rPr>
              <a:t>Sufficient throughput at 500 Hz + lowest wireless power</a:t>
            </a:r>
            <a:endParaRPr lang="en-US" sz="1470"/>
          </a:p>
        </p:txBody>
      </p:sp>
      <p:sp>
        <p:nvSpPr>
          <p:cNvPr id="13" name="Text 11"/>
          <p:cNvSpPr/>
          <p:nvPr/>
        </p:nvSpPr>
        <p:spPr>
          <a:xfrm>
            <a:off x="-918754" y="3970383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latin typeface="Aptos Display"/>
                <a:ea typeface="Aptos Display" pitchFamily="34" charset="-122"/>
                <a:cs typeface="Aptos Display" pitchFamily="34" charset="-120"/>
              </a:rPr>
              <a:t>Selected communication method:</a:t>
            </a:r>
            <a:r>
              <a:rPr lang="en-US" sz="3000" b="1">
                <a:solidFill>
                  <a:srgbClr val="25A244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 BLE</a:t>
            </a:r>
            <a:endParaRPr lang="en-US" sz="3000">
              <a:latin typeface="Aptos Display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77440" y="4983480"/>
            <a:ext cx="74066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Matches the wearable/portable use case.</a:t>
            </a:r>
            <a:endParaRPr lang="en-US" sz="1750"/>
          </a:p>
          <a:p>
            <a:pPr marL="0" indent="0">
              <a:buNone/>
            </a:pPr>
            <a:r>
              <a:rPr lang="en-US" sz="17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Reliable at the acquisition rate used for PCG processing.</a:t>
            </a:r>
            <a:endParaRPr lang="en-US" sz="1750"/>
          </a:p>
          <a:p>
            <a:pPr marL="0" indent="0">
              <a:buNone/>
            </a:pPr>
            <a:r>
              <a:rPr lang="en-US" sz="17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Minimizes radio power compared with active Wi-Fi.</a:t>
            </a:r>
            <a:endParaRPr lang="en-US" sz="1750"/>
          </a:p>
        </p:txBody>
      </p:sp>
      <p:sp>
        <p:nvSpPr>
          <p:cNvPr id="15" name="Shape 1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Digital Phonocardiography System | Lab of Internet of Medical Things</a:t>
            </a:r>
            <a:endParaRPr lang="en-US" sz="8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7DE2D1"/>
                </a:solidFill>
              </a:rPr>
              <a:t>04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 processing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834640" cy="0"/>
          </a:xfrm>
          <a:prstGeom prst="line">
            <a:avLst/>
          </a:prstGeom>
          <a:noFill/>
          <a:ln w="508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595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D9E8FF"/>
                </a:solidFill>
              </a:rPr>
              <a:t>From noisy PCG recording to S1/S2 detection, segmentation.</a:t>
            </a:r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9981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PCG signal-processing</a:t>
            </a:r>
            <a:endParaRPr lang="en-US" sz="2600">
              <a:latin typeface="Aptos Display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processing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10560" y="4198402"/>
            <a:ext cx="552704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>
                <a:solidFill>
                  <a:srgbClr val="64748B"/>
                </a:solidFill>
              </a:rPr>
              <a:t>Original raw PCG waveform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620485" y="5523412"/>
            <a:ext cx="4712790" cy="9100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algn="just"/>
            <a:r>
              <a:rPr lang="en-US" sz="17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Raw recordings can contain environmental noise, sensor movement, poor contact, and electrical interference. These noises </a:t>
            </a:r>
            <a:r>
              <a:rPr lang="en-US" sz="1700">
                <a:solidFill>
                  <a:srgbClr val="111827"/>
                </a:solidFill>
                <a:ea typeface="+mn-lt"/>
                <a:cs typeface="+mn-lt"/>
              </a:rPr>
              <a:t>make S1 and S2 detection difficult.</a:t>
            </a:r>
            <a:endParaRPr lang="en-US" sz="1700">
              <a:solidFill>
                <a:srgbClr val="000000"/>
              </a:solidFill>
              <a:latin typeface="Aptos"/>
            </a:endParaRPr>
          </a:p>
          <a:p>
            <a:pPr algn="just"/>
            <a:endParaRPr lang="en-US" sz="1700">
              <a:solidFill>
                <a:srgbClr val="111827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011680" y="4979126"/>
            <a:ext cx="1005840" cy="0"/>
          </a:xfrm>
          <a:prstGeom prst="line">
            <a:avLst/>
          </a:prstGeom>
          <a:noFill/>
          <a:ln w="20320">
            <a:solidFill>
              <a:srgbClr val="00A8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06240" y="4979126"/>
            <a:ext cx="1005840" cy="0"/>
          </a:xfrm>
          <a:prstGeom prst="line">
            <a:avLst/>
          </a:prstGeom>
          <a:noFill/>
          <a:ln w="20320">
            <a:solidFill>
              <a:srgbClr val="00A8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0" y="4979126"/>
            <a:ext cx="1005840" cy="0"/>
          </a:xfrm>
          <a:prstGeom prst="line">
            <a:avLst/>
          </a:prstGeom>
          <a:noFill/>
          <a:ln w="20320">
            <a:solidFill>
              <a:srgbClr val="4472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595360" y="4950097"/>
            <a:ext cx="1005840" cy="0"/>
          </a:xfrm>
          <a:prstGeom prst="line">
            <a:avLst/>
          </a:prstGeom>
          <a:noFill/>
          <a:ln w="20320">
            <a:solidFill>
              <a:srgbClr val="00A8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4659086"/>
            <a:ext cx="1188720" cy="594360"/>
          </a:xfrm>
          <a:prstGeom prst="rect">
            <a:avLst/>
          </a:prstGeom>
          <a:solidFill>
            <a:srgbClr val="EA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PCG</a:t>
            </a:r>
            <a:endParaRPr lang="en-US" sz="1350"/>
          </a:p>
        </p:txBody>
      </p:sp>
      <p:sp>
        <p:nvSpPr>
          <p:cNvPr id="13" name="Text 10"/>
          <p:cNvSpPr/>
          <p:nvPr/>
        </p:nvSpPr>
        <p:spPr>
          <a:xfrm>
            <a:off x="3108960" y="4659086"/>
            <a:ext cx="1188720" cy="594360"/>
          </a:xfrm>
          <a:prstGeom prst="rect">
            <a:avLst/>
          </a:prstGeom>
          <a:solidFill>
            <a:srgbClr val="E8F7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Filtering</a:t>
            </a:r>
            <a:endParaRPr lang="en-US" sz="1350"/>
          </a:p>
        </p:txBody>
      </p:sp>
      <p:sp>
        <p:nvSpPr>
          <p:cNvPr id="14" name="Text 11"/>
          <p:cNvSpPr/>
          <p:nvPr/>
        </p:nvSpPr>
        <p:spPr>
          <a:xfrm>
            <a:off x="5303520" y="4746172"/>
            <a:ext cx="1188720" cy="594360"/>
          </a:xfrm>
          <a:prstGeom prst="rect">
            <a:avLst/>
          </a:prstGeom>
          <a:solidFill>
            <a:srgbClr val="EA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Envelope</a:t>
            </a:r>
            <a:endParaRPr lang="en-US" sz="1350"/>
          </a:p>
        </p:txBody>
      </p:sp>
      <p:sp>
        <p:nvSpPr>
          <p:cNvPr id="15" name="Text 12"/>
          <p:cNvSpPr/>
          <p:nvPr/>
        </p:nvSpPr>
        <p:spPr>
          <a:xfrm>
            <a:off x="7498080" y="4659086"/>
            <a:ext cx="1188720" cy="594360"/>
          </a:xfrm>
          <a:prstGeom prst="rect">
            <a:avLst/>
          </a:prstGeom>
          <a:solidFill>
            <a:srgbClr val="E8F7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S1/S2</a:t>
            </a:r>
            <a:endParaRPr lang="en-US" sz="1350"/>
          </a:p>
        </p:txBody>
      </p:sp>
      <p:sp>
        <p:nvSpPr>
          <p:cNvPr id="16" name="Text 13"/>
          <p:cNvSpPr/>
          <p:nvPr/>
        </p:nvSpPr>
        <p:spPr>
          <a:xfrm>
            <a:off x="9692640" y="4644571"/>
            <a:ext cx="1188720" cy="594360"/>
          </a:xfrm>
          <a:prstGeom prst="rect">
            <a:avLst/>
          </a:prstGeom>
          <a:solidFill>
            <a:srgbClr val="EA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350"/>
          </a:p>
        </p:txBody>
      </p:sp>
      <p:sp>
        <p:nvSpPr>
          <p:cNvPr id="17" name="Shape 1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Digital Phonocardiography System | Lab of Internet of Medical Things</a:t>
            </a:r>
            <a:endParaRPr lang="en-US" sz="850"/>
          </a:p>
        </p:txBody>
      </p:sp>
      <p:pic>
        <p:nvPicPr>
          <p:cNvPr id="21" name="Picture 20" descr="A graph of a sound wave&#10;&#10;AI-generated content may be incorrect.">
            <a:extLst>
              <a:ext uri="{FF2B5EF4-FFF2-40B4-BE49-F238E27FC236}">
                <a16:creationId xmlns:a16="http://schemas.microsoft.com/office/drawing/2014/main" id="{0BB8BBFD-E806-93F8-3EA8-79C5E711E0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" t="-1291" b="220"/>
          <a:stretch>
            <a:fillRect/>
          </a:stretch>
        </p:blipFill>
        <p:spPr>
          <a:xfrm>
            <a:off x="290287" y="784779"/>
            <a:ext cx="11371955" cy="32501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6B8B84-3A42-2AC7-16DA-48938D9730F5}"/>
              </a:ext>
            </a:extLst>
          </p:cNvPr>
          <p:cNvSpPr txBox="1"/>
          <p:nvPr/>
        </p:nvSpPr>
        <p:spPr>
          <a:xfrm>
            <a:off x="5900058" y="5533571"/>
            <a:ext cx="6096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0" i="0" u="none" strike="noStrike" baseline="0">
                <a:solidFill>
                  <a:srgbClr val="111827"/>
                </a:solidFill>
                <a:latin typeface="Aptos"/>
                <a:ea typeface="Segoe UI"/>
                <a:cs typeface="Segoe UI"/>
              </a:rPr>
              <a:t>The pipeline first cleans the signal, then extracts </a:t>
            </a:r>
            <a:r>
              <a:rPr lang="en-US" sz="1600">
                <a:solidFill>
                  <a:srgbClr val="111827"/>
                </a:solidFill>
                <a:latin typeface="Aptos"/>
                <a:ea typeface="Segoe UI"/>
                <a:cs typeface="Segoe UI"/>
              </a:rPr>
              <a:t>an envelope</a:t>
            </a:r>
            <a:r>
              <a:rPr lang="en-US" sz="1600" b="0" i="0" u="none" strike="noStrike" baseline="0">
                <a:solidFill>
                  <a:srgbClr val="111827"/>
                </a:solidFill>
                <a:latin typeface="Aptos"/>
                <a:ea typeface="Segoe UI"/>
                <a:cs typeface="Segoe UI"/>
              </a:rPr>
              <a:t>, then applies physiological timing constraints.</a:t>
            </a:r>
            <a:r>
              <a:rPr sz="16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sz="1600"/>
          </a:p>
          <a:p>
            <a:pPr algn="ctr"/>
            <a:endParaRPr lang="en-US"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and filtering strategy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processing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357881" y="486896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>
                <a:solidFill>
                  <a:srgbClr val="64748B"/>
                </a:solidFill>
              </a:rPr>
              <a:t>Normalized input vs filtered PCG signal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04372" y="5265057"/>
            <a:ext cx="8278220" cy="117203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just"/>
            <a:r>
              <a:rPr lang="en-US" sz="17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Remove DC component by subtracting the mean.</a:t>
            </a:r>
            <a:endParaRPr lang="en-US" sz="1700">
              <a:latin typeface="Aptos"/>
            </a:endParaRPr>
          </a:p>
          <a:p>
            <a:pPr algn="just"/>
            <a:r>
              <a:rPr lang="en-US" sz="17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Normalize amplitude.</a:t>
            </a:r>
            <a:endParaRPr lang="en-US" sz="1700">
              <a:solidFill>
                <a:srgbClr val="000000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algn="just"/>
            <a:r>
              <a:rPr lang="en-US" sz="17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Apply notch filters at 50, 100, and 150 Hz to suppress power-line components.</a:t>
            </a:r>
            <a:endParaRPr lang="en-US" sz="1700">
              <a:latin typeface="Aptos"/>
            </a:endParaRPr>
          </a:p>
          <a:p>
            <a:pPr algn="just"/>
            <a:r>
              <a:rPr lang="en-US" sz="17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Apply 25-200 Hz band-pass filtering, wavelet denoising.</a:t>
            </a:r>
            <a:endParaRPr lang="en-US" sz="1700">
              <a:latin typeface="Apto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Source figure: Report Fig. 11</a:t>
            </a:r>
            <a:endParaRPr lang="en-US" sz="850"/>
          </a:p>
        </p:txBody>
      </p:sp>
      <p:pic>
        <p:nvPicPr>
          <p:cNvPr id="8" name="Picture 7" descr="A graph of a sound wave&#10;&#10;AI-generated content may be incorrect.">
            <a:extLst>
              <a:ext uri="{FF2B5EF4-FFF2-40B4-BE49-F238E27FC236}">
                <a16:creationId xmlns:a16="http://schemas.microsoft.com/office/drawing/2014/main" id="{5BBA5C06-A079-BFBA-138E-AF2CC25294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8" b="-147"/>
          <a:stretch>
            <a:fillRect/>
          </a:stretch>
        </p:blipFill>
        <p:spPr>
          <a:xfrm>
            <a:off x="638628" y="857945"/>
            <a:ext cx="10922010" cy="39084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Shannon envelope and S1/S2 peak detection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processing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262880" y="36737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>
                <a:solidFill>
                  <a:srgbClr val="64748B"/>
                </a:solidFill>
              </a:rPr>
              <a:t>S1/S2 detection from Shannon energy envelope</a:t>
            </a:r>
            <a:endParaRPr lang="en-US" sz="950"/>
          </a:p>
        </p:txBody>
      </p:sp>
      <p:sp>
        <p:nvSpPr>
          <p:cNvPr id="9" name="Text 6"/>
          <p:cNvSpPr/>
          <p:nvPr/>
        </p:nvSpPr>
        <p:spPr>
          <a:xfrm>
            <a:off x="318588" y="1140096"/>
            <a:ext cx="4410163" cy="233679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15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</a:t>
            </a:r>
            <a:r>
              <a:rPr lang="en-US" sz="17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 Envelope cutoff: 8 Hz.</a:t>
            </a:r>
            <a:endParaRPr lang="en-US" sz="1700">
              <a:solidFill>
                <a:srgbClr val="111827"/>
              </a:solidFill>
              <a:latin typeface="Aptos"/>
            </a:endParaRPr>
          </a:p>
          <a:p>
            <a:pPr algn="just"/>
            <a:endParaRPr lang="en-US" sz="1700">
              <a:solidFill>
                <a:srgbClr val="111827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7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Candidate peaks are detected above the 75th-percentile threshold.</a:t>
            </a:r>
            <a:endParaRPr lang="en-US" sz="1700">
              <a:latin typeface="Aptos"/>
            </a:endParaRPr>
          </a:p>
          <a:p>
            <a:pPr algn="just"/>
            <a:endParaRPr lang="en-US" sz="1700">
              <a:solidFill>
                <a:srgbClr val="111827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0" indent="0" algn="just">
              <a:buNone/>
            </a:pPr>
            <a:r>
              <a:rPr lang="en-US" sz="17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Minimum peak distance prevents repeated detection of the same event.</a:t>
            </a:r>
            <a:endParaRPr lang="en-US" sz="1700">
              <a:latin typeface="Aptos"/>
            </a:endParaRPr>
          </a:p>
          <a:p>
            <a:pPr algn="just"/>
            <a:endParaRPr lang="en-US" sz="1700">
              <a:solidFill>
                <a:srgbClr val="111827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algn="just"/>
            <a:r>
              <a:rPr lang="en-US" sz="17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Physiological timing rules (</a:t>
            </a:r>
            <a:r>
              <a:rPr lang="en-US" sz="1700" b="1">
                <a:solidFill>
                  <a:srgbClr val="111827"/>
                </a:solidFill>
                <a:ea typeface="+mn-lt"/>
                <a:cs typeface="+mn-lt"/>
              </a:rPr>
              <a:t>0.07 ≤</a:t>
            </a:r>
            <a:r>
              <a:rPr lang="en-US" sz="1900" b="1">
                <a:solidFill>
                  <a:srgbClr val="111827"/>
                </a:solidFill>
                <a:ea typeface="+mn-lt"/>
                <a:cs typeface="+mn-lt"/>
              </a:rPr>
              <a:t> t</a:t>
            </a:r>
            <a:r>
              <a:rPr lang="en-US" sz="1400" b="1">
                <a:solidFill>
                  <a:srgbClr val="111827"/>
                </a:solidFill>
                <a:ea typeface="+mn-lt"/>
                <a:cs typeface="+mn-lt"/>
              </a:rPr>
              <a:t>S1–S2</a:t>
            </a:r>
            <a:r>
              <a:rPr lang="en-US" sz="1700" b="1">
                <a:solidFill>
                  <a:srgbClr val="111827"/>
                </a:solidFill>
                <a:ea typeface="+mn-lt"/>
                <a:cs typeface="+mn-lt"/>
              </a:rPr>
              <a:t> ≤ 0.50 s, 0.18 ≤ </a:t>
            </a:r>
            <a:r>
              <a:rPr lang="en-US" sz="1900" b="1">
                <a:solidFill>
                  <a:srgbClr val="111827"/>
                </a:solidFill>
                <a:ea typeface="+mn-lt"/>
                <a:cs typeface="+mn-lt"/>
              </a:rPr>
              <a:t>t</a:t>
            </a:r>
            <a:r>
              <a:rPr lang="en-US" sz="1400" b="1">
                <a:solidFill>
                  <a:srgbClr val="111827"/>
                </a:solidFill>
                <a:ea typeface="+mn-lt"/>
                <a:cs typeface="+mn-lt"/>
              </a:rPr>
              <a:t>S2–S1</a:t>
            </a:r>
            <a:r>
              <a:rPr lang="en-US" sz="1700" b="1">
                <a:solidFill>
                  <a:srgbClr val="111827"/>
                </a:solidFill>
                <a:ea typeface="+mn-lt"/>
                <a:cs typeface="+mn-lt"/>
              </a:rPr>
              <a:t> ≤ 1.40 </a:t>
            </a:r>
            <a:r>
              <a:rPr lang="en-US" sz="1700">
                <a:solidFill>
                  <a:srgbClr val="111827"/>
                </a:solidFill>
                <a:ea typeface="+mn-lt"/>
                <a:cs typeface="+mn-lt"/>
              </a:rPr>
              <a:t>s </a:t>
            </a:r>
            <a:r>
              <a:rPr lang="en-US" sz="17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) classify peaks as S1 or S2. </a:t>
            </a:r>
          </a:p>
          <a:p>
            <a:pPr algn="just"/>
            <a:endParaRPr lang="en-US" sz="1700">
              <a:solidFill>
                <a:srgbClr val="111827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algn="just"/>
            <a:r>
              <a:rPr lang="en-US" sz="17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Detected peaks that do not satisfy the timing constraints remain unassigned.</a:t>
            </a:r>
            <a:endParaRPr lang="en-US" sz="1700" u="sng"/>
          </a:p>
          <a:p>
            <a:endParaRPr lang="en-US" sz="1500">
              <a:solidFill>
                <a:srgbClr val="111827"/>
              </a:solidFill>
              <a:latin typeface="Aptos"/>
            </a:endParaRPr>
          </a:p>
          <a:p>
            <a:endParaRPr lang="en-US" sz="1550">
              <a:solidFill>
                <a:srgbClr val="111827"/>
              </a:solidFill>
              <a:latin typeface="Aptos"/>
            </a:endParaRPr>
          </a:p>
          <a:p>
            <a:endParaRPr lang="en-US" sz="1550">
              <a:solidFill>
                <a:srgbClr val="111827"/>
              </a:solidFill>
              <a:latin typeface="Apto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64748B"/>
                </a:solidFill>
              </a:rPr>
              <a:t>Source figure: Report Fig. 12, 13</a:t>
            </a:r>
            <a:endParaRPr lang="en-US" sz="85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65F5ABDD-EA3C-C449-E7B5-4631412FD20A}"/>
              </a:ext>
            </a:extLst>
          </p:cNvPr>
          <p:cNvSpPr/>
          <p:nvPr/>
        </p:nvSpPr>
        <p:spPr>
          <a:xfrm>
            <a:off x="5154023" y="6112111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00" i="1">
                <a:solidFill>
                  <a:srgbClr val="64748B"/>
                </a:solidFill>
              </a:rPr>
              <a:t>Zoomed S1/S2 detection from Shannon energy envelope</a:t>
            </a:r>
            <a:endParaRPr lang="en-US" sz="15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B83500D-E818-2864-C186-9BF77533E5C6}"/>
              </a:ext>
            </a:extLst>
          </p:cNvPr>
          <p:cNvSpPr/>
          <p:nvPr/>
        </p:nvSpPr>
        <p:spPr>
          <a:xfrm>
            <a:off x="198846" y="4582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 duration</a:t>
            </a:r>
            <a:endParaRPr lang="en-US" sz="105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B60F215-661B-1322-33AA-A1A4B0DBF7A9}"/>
              </a:ext>
            </a:extLst>
          </p:cNvPr>
          <p:cNvSpPr/>
          <p:nvPr/>
        </p:nvSpPr>
        <p:spPr>
          <a:xfrm>
            <a:off x="198846" y="4079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600" b="1">
                <a:solidFill>
                  <a:srgbClr val="1A73E8"/>
                </a:solidFill>
                <a:ea typeface="+mn-lt"/>
                <a:cs typeface="+mn-lt"/>
              </a:rPr>
              <a:t>65.03 </a:t>
            </a:r>
            <a:r>
              <a:rPr lang="en-US" sz="2600" b="1">
                <a:solidFill>
                  <a:srgbClr val="1A73E8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 s</a:t>
            </a:r>
            <a:endParaRPr lang="en-US" sz="2600" b="1">
              <a:latin typeface="Aptos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4B31230-6396-2FD3-0CF0-5102F1B9979B}"/>
              </a:ext>
            </a:extLst>
          </p:cNvPr>
          <p:cNvSpPr/>
          <p:nvPr/>
        </p:nvSpPr>
        <p:spPr>
          <a:xfrm>
            <a:off x="1592943" y="4079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>
                <a:solidFill>
                  <a:srgbClr val="00A6A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8000 Hz</a:t>
            </a:r>
            <a:endParaRPr lang="en-US" sz="2600">
              <a:latin typeface="Aptos Display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81E4170-7601-75FB-8C29-6138BE4C3FB1}"/>
              </a:ext>
            </a:extLst>
          </p:cNvPr>
          <p:cNvSpPr/>
          <p:nvPr/>
        </p:nvSpPr>
        <p:spPr>
          <a:xfrm>
            <a:off x="1592943" y="4582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rate</a:t>
            </a:r>
            <a:endParaRPr lang="en-US" sz="105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5F4A62D-1B89-8766-1686-06DF8F87B628}"/>
              </a:ext>
            </a:extLst>
          </p:cNvPr>
          <p:cNvSpPr/>
          <p:nvPr/>
        </p:nvSpPr>
        <p:spPr>
          <a:xfrm>
            <a:off x="3023326" y="4079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600" b="1">
                <a:solidFill>
                  <a:srgbClr val="7B61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72+ 72</a:t>
            </a:r>
            <a:endParaRPr lang="en-US" sz="2600">
              <a:latin typeface="Aptos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DFE4CC1-B5D3-BBFE-9D75-10D1E463D066}"/>
              </a:ext>
            </a:extLst>
          </p:cNvPr>
          <p:cNvSpPr/>
          <p:nvPr/>
        </p:nvSpPr>
        <p:spPr>
          <a:xfrm>
            <a:off x="3045097" y="4582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 and S2 peaks</a:t>
            </a:r>
            <a:endParaRPr lang="en-US" sz="105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CA66D953-1DEB-16F5-1E06-D2E6299FBA37}"/>
              </a:ext>
            </a:extLst>
          </p:cNvPr>
          <p:cNvSpPr/>
          <p:nvPr/>
        </p:nvSpPr>
        <p:spPr>
          <a:xfrm>
            <a:off x="317863" y="5160554"/>
            <a:ext cx="1688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600" b="1">
                <a:solidFill>
                  <a:srgbClr val="FFB000"/>
                </a:solidFill>
                <a:latin typeface="Aptos Display"/>
              </a:rPr>
              <a:t>68.8 bpm</a:t>
            </a: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B493B923-F6C3-78F2-0C91-9E10B2F72282}"/>
              </a:ext>
            </a:extLst>
          </p:cNvPr>
          <p:cNvSpPr/>
          <p:nvPr/>
        </p:nvSpPr>
        <p:spPr>
          <a:xfrm>
            <a:off x="201749" y="578684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from S1-S1 intervals</a:t>
            </a:r>
            <a:endParaRPr lang="en-US" sz="10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327491-9438-CBAB-66E8-75DD86FAAF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5" r="81" b="-529"/>
          <a:stretch>
            <a:fillRect/>
          </a:stretch>
        </p:blipFill>
        <p:spPr>
          <a:xfrm>
            <a:off x="5159829" y="939665"/>
            <a:ext cx="6800041" cy="24863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EB01A4F-D5B9-A7F7-F76D-375715E03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541" y="3431595"/>
            <a:ext cx="6836231" cy="250577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Four-state cardiac cycle segmentation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processing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9171" y="37753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>
                <a:solidFill>
                  <a:srgbClr val="64748B"/>
                </a:solidFill>
              </a:rPr>
              <a:t>Segmentation into S1, systole, S2, and diastole</a:t>
            </a:r>
            <a:endParaRPr lang="en-US" sz="1500"/>
          </a:p>
        </p:txBody>
      </p:sp>
      <p:sp>
        <p:nvSpPr>
          <p:cNvPr id="7" name="Shape 4"/>
          <p:cNvSpPr/>
          <p:nvPr/>
        </p:nvSpPr>
        <p:spPr>
          <a:xfrm>
            <a:off x="2240280" y="4623526"/>
            <a:ext cx="1463040" cy="0"/>
          </a:xfrm>
          <a:prstGeom prst="line">
            <a:avLst/>
          </a:prstGeom>
          <a:noFill/>
          <a:ln w="20320">
            <a:solidFill>
              <a:srgbClr val="1A73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09160" y="4623526"/>
            <a:ext cx="1463040" cy="0"/>
          </a:xfrm>
          <a:prstGeom prst="line">
            <a:avLst/>
          </a:prstGeom>
          <a:noFill/>
          <a:ln w="20320">
            <a:solidFill>
              <a:srgbClr val="1A73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178040" y="4623526"/>
            <a:ext cx="1463040" cy="0"/>
          </a:xfrm>
          <a:prstGeom prst="line">
            <a:avLst/>
          </a:prstGeom>
          <a:noFill/>
          <a:ln w="20320">
            <a:solidFill>
              <a:srgbClr val="1A73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25880" y="4257766"/>
            <a:ext cx="1005840" cy="685800"/>
          </a:xfrm>
          <a:prstGeom prst="rect">
            <a:avLst/>
          </a:prstGeom>
          <a:solidFill>
            <a:srgbClr val="EA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</a:t>
            </a:r>
            <a:endParaRPr lang="en-US" sz="1350"/>
          </a:p>
        </p:txBody>
      </p:sp>
      <p:sp>
        <p:nvSpPr>
          <p:cNvPr id="11" name="Text 8"/>
          <p:cNvSpPr/>
          <p:nvPr/>
        </p:nvSpPr>
        <p:spPr>
          <a:xfrm>
            <a:off x="3794760" y="4257766"/>
            <a:ext cx="1005840" cy="685800"/>
          </a:xfrm>
          <a:prstGeom prst="rect">
            <a:avLst/>
          </a:prstGeom>
          <a:solidFill>
            <a:srgbClr val="E8F7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Systole</a:t>
            </a:r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6263640" y="4272280"/>
            <a:ext cx="1005840" cy="685800"/>
          </a:xfrm>
          <a:prstGeom prst="rect">
            <a:avLst/>
          </a:prstGeom>
          <a:solidFill>
            <a:srgbClr val="EA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</a:t>
            </a:r>
            <a:endParaRPr lang="en-US" sz="1350"/>
          </a:p>
        </p:txBody>
      </p:sp>
      <p:sp>
        <p:nvSpPr>
          <p:cNvPr id="13" name="Text 10"/>
          <p:cNvSpPr/>
          <p:nvPr/>
        </p:nvSpPr>
        <p:spPr>
          <a:xfrm>
            <a:off x="8732520" y="4286794"/>
            <a:ext cx="1005840" cy="685800"/>
          </a:xfrm>
          <a:prstGeom prst="rect">
            <a:avLst/>
          </a:prstGeom>
          <a:solidFill>
            <a:srgbClr val="E8F7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09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Diastole</a:t>
            </a:r>
            <a:endParaRPr lang="en-US" sz="1350"/>
          </a:p>
        </p:txBody>
      </p:sp>
      <p:sp>
        <p:nvSpPr>
          <p:cNvPr id="14" name="Text 11"/>
          <p:cNvSpPr/>
          <p:nvPr/>
        </p:nvSpPr>
        <p:spPr>
          <a:xfrm>
            <a:off x="505097" y="5384800"/>
            <a:ext cx="9875520" cy="2989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• S1/S2 boundaries are estimated from the envelope using a relative boundary level of 40% of the peak height.</a:t>
            </a:r>
            <a:endParaRPr lang="en-US" sz="1650">
              <a:latin typeface="Aptos"/>
            </a:endParaRPr>
          </a:p>
          <a:p>
            <a:pPr marL="0" indent="0">
              <a:buNone/>
            </a:pPr>
            <a:endParaRPr lang="en-US" sz="1650">
              <a:solidFill>
                <a:srgbClr val="111827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Source figure: Report Fig. 14</a:t>
            </a:r>
            <a:endParaRPr lang="en-US" sz="850"/>
          </a:p>
        </p:txBody>
      </p:sp>
      <p:pic>
        <p:nvPicPr>
          <p:cNvPr id="17" name="Picture 16" descr="A graph of a sound wave&#10;&#10;AI-generated content may be incorrect.">
            <a:extLst>
              <a:ext uri="{FF2B5EF4-FFF2-40B4-BE49-F238E27FC236}">
                <a16:creationId xmlns:a16="http://schemas.microsoft.com/office/drawing/2014/main" id="{E1D2D27A-338B-738D-FD70-840867F83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886286"/>
            <a:ext cx="11509829" cy="274862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037"/>
            <a:ext cx="7672252" cy="49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00" b="1">
              <a:solidFill>
                <a:srgbClr val="000000"/>
              </a:solidFill>
              <a:latin typeface="Aptos"/>
              <a:ea typeface="Aptos Display" pitchFamily="34" charset="-122"/>
              <a:cs typeface="Aptos Display" pitchFamily="34" charset="-120"/>
            </a:endParaRPr>
          </a:p>
          <a:p>
            <a:r>
              <a:rPr lang="en-US" sz="2600" b="1">
                <a:solidFill>
                  <a:srgbClr val="000000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Cycle Features and Rule-Based Screening</a:t>
            </a:r>
            <a:endParaRPr lang="en-US" sz="2600">
              <a:solidFill>
                <a:srgbClr val="000000"/>
              </a:solidFill>
              <a:latin typeface="Aptos"/>
              <a:ea typeface="Aptos Display" pitchFamily="34" charset="-122"/>
              <a:cs typeface="Aptos Display" pitchFamily="34" charset="-120"/>
            </a:endParaRPr>
          </a:p>
          <a:p>
            <a:endParaRPr lang="en-US" sz="2600" b="1">
              <a:solidFill>
                <a:srgbClr val="09233F"/>
              </a:solidFill>
              <a:latin typeface="Aptos Display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processing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Digital Phonocardiography System | Lab of Internet of Medical Things</a:t>
            </a:r>
            <a:endParaRPr lang="en-US" sz="8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F93BAF-130B-4CFA-0BD9-92B8EA3DE5FC}"/>
              </a:ext>
            </a:extLst>
          </p:cNvPr>
          <p:cNvSpPr txBox="1"/>
          <p:nvPr/>
        </p:nvSpPr>
        <p:spPr>
          <a:xfrm>
            <a:off x="703943" y="3784600"/>
            <a:ext cx="511628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0" i="0" u="none" strike="noStrike" baseline="0">
                <a:solidFill>
                  <a:srgbClr val="111827"/>
                </a:solidFill>
                <a:latin typeface="Aptos"/>
                <a:ea typeface="Segoe UI"/>
                <a:cs typeface="Segoe UI"/>
              </a:rPr>
              <a:t> </a:t>
            </a:r>
            <a:r>
              <a:rPr lang="en-US" sz="1600" b="1" i="0" u="none" strike="noStrike" baseline="0">
                <a:solidFill>
                  <a:srgbClr val="111827"/>
                </a:solidFill>
                <a:latin typeface="Aptos"/>
                <a:ea typeface="Segoe UI"/>
                <a:cs typeface="Segoe UI"/>
              </a:rPr>
              <a:t>Rule-based screening checks whether cycle features </a:t>
            </a:r>
            <a:r>
              <a:rPr lang="en-US" sz="1600" b="1">
                <a:solidFill>
                  <a:srgbClr val="111827"/>
                </a:solidFill>
                <a:latin typeface="Aptos"/>
                <a:ea typeface="Segoe UI"/>
                <a:cs typeface="Segoe UI"/>
              </a:rPr>
              <a:t>fall inside</a:t>
            </a:r>
            <a:r>
              <a:rPr lang="en-US" sz="1600" b="1" i="0" u="none" strike="noStrike" baseline="0">
                <a:solidFill>
                  <a:srgbClr val="111827"/>
                </a:solidFill>
                <a:latin typeface="Aptos"/>
                <a:ea typeface="Segoe UI"/>
                <a:cs typeface="Segoe UI"/>
              </a:rPr>
              <a:t> expected physiological or quality ranges.</a:t>
            </a:r>
            <a:endParaRPr lang="en-US" b="1"/>
          </a:p>
          <a:p>
            <a:pPr algn="ctr"/>
            <a:endParaRPr lang="en-US"/>
          </a:p>
        </p:txBody>
      </p:sp>
      <p:pic>
        <p:nvPicPr>
          <p:cNvPr id="9" name="Picture 8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458FFA2B-C659-DB7E-B7A4-934369E998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4" t="4973" r="3262" b="-1741"/>
          <a:stretch>
            <a:fillRect/>
          </a:stretch>
        </p:blipFill>
        <p:spPr>
          <a:xfrm>
            <a:off x="707118" y="4477067"/>
            <a:ext cx="4313180" cy="1957990"/>
          </a:xfrm>
          <a:prstGeom prst="rect">
            <a:avLst/>
          </a:prstGeom>
        </p:spPr>
      </p:pic>
      <p:sp>
        <p:nvSpPr>
          <p:cNvPr id="10" name="Text 14">
            <a:extLst>
              <a:ext uri="{FF2B5EF4-FFF2-40B4-BE49-F238E27FC236}">
                <a16:creationId xmlns:a16="http://schemas.microsoft.com/office/drawing/2014/main" id="{2ABB3817-3EBF-240F-982C-DE4EE784AB88}"/>
              </a:ext>
            </a:extLst>
          </p:cNvPr>
          <p:cNvSpPr/>
          <p:nvPr/>
        </p:nvSpPr>
        <p:spPr>
          <a:xfrm>
            <a:off x="706844" y="1727923"/>
            <a:ext cx="2968173" cy="120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chemeClr val="accent6">
                    <a:lumMod val="49000"/>
                  </a:schemeClr>
                </a:solidFill>
                <a:ea typeface="+mn-lt"/>
                <a:cs typeface="+mn-lt"/>
              </a:rPr>
              <a:t>Extracted features:</a:t>
            </a:r>
            <a:endParaRPr lang="en-US" sz="1600" b="1">
              <a:solidFill>
                <a:schemeClr val="accent6">
                  <a:lumMod val="49000"/>
                </a:schemeClr>
              </a:solidFill>
            </a:endParaRPr>
          </a:p>
          <a:p>
            <a:endParaRPr lang="en-US" sz="1600" b="1">
              <a:solidFill>
                <a:srgbClr val="1A73E8"/>
              </a:solidFill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• Heart rate from cycle duration</a:t>
            </a:r>
            <a:endParaRPr lang="en-US" sz="1600"/>
          </a:p>
          <a:p>
            <a:endParaRPr lang="en-US" sz="1600"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• S1 and S2 durations</a:t>
            </a:r>
            <a:endParaRPr lang="en-US" sz="1600"/>
          </a:p>
          <a:p>
            <a:endParaRPr lang="en-US" sz="1600"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• Systolic and diastolic intervals</a:t>
            </a:r>
            <a:endParaRPr lang="en-US" sz="1600"/>
          </a:p>
          <a:p>
            <a:endParaRPr lang="en-US" sz="1600"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• RMS energy</a:t>
            </a:r>
            <a:endParaRPr lang="en-US" sz="1600"/>
          </a:p>
          <a:p>
            <a:endParaRPr lang="en-US" sz="1600"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• S1/S2 amplitude ratio</a:t>
            </a:r>
            <a:endParaRPr lang="en-US" sz="160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93911B4F-10A7-0BD3-9D31-33D565B8B16F}"/>
              </a:ext>
            </a:extLst>
          </p:cNvPr>
          <p:cNvSpPr/>
          <p:nvPr/>
        </p:nvSpPr>
        <p:spPr>
          <a:xfrm>
            <a:off x="6823166" y="11110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25A244"/>
                </a:solidFill>
                <a:latin typeface="Aptos Display"/>
              </a:rPr>
              <a:t>65/66</a:t>
            </a:r>
            <a:endParaRPr lang="en-US" sz="260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2583124B-8AC3-E2B6-0212-97283378BB27}"/>
              </a:ext>
            </a:extLst>
          </p:cNvPr>
          <p:cNvSpPr/>
          <p:nvPr/>
        </p:nvSpPr>
        <p:spPr>
          <a:xfrm>
            <a:off x="6823166" y="1555931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cycles</a:t>
            </a:r>
            <a:endParaRPr lang="en-US" sz="105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9B3C8EEB-1709-F66A-2150-2E398AA7B94B}"/>
              </a:ext>
            </a:extLst>
          </p:cNvPr>
          <p:cNvSpPr/>
          <p:nvPr/>
        </p:nvSpPr>
        <p:spPr>
          <a:xfrm>
            <a:off x="8564880" y="11110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25A244"/>
                </a:solidFill>
                <a:latin typeface="Aptos Display"/>
              </a:rPr>
              <a:t>98.5%</a:t>
            </a:r>
            <a:endParaRPr lang="en-US" sz="2600">
              <a:latin typeface="Aptos Display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74C0D191-8D9F-C8BB-CB07-9AAC1ECC6F5C}"/>
              </a:ext>
            </a:extLst>
          </p:cNvPr>
          <p:cNvSpPr/>
          <p:nvPr/>
        </p:nvSpPr>
        <p:spPr>
          <a:xfrm>
            <a:off x="8564880" y="1555931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percentage</a:t>
            </a:r>
            <a:endParaRPr lang="en-US" sz="105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AD9757D7-6C2D-83EE-8A31-7220A0A6BD40}"/>
              </a:ext>
            </a:extLst>
          </p:cNvPr>
          <p:cNvSpPr/>
          <p:nvPr/>
        </p:nvSpPr>
        <p:spPr>
          <a:xfrm>
            <a:off x="6823166" y="20762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B000"/>
                </a:solidFill>
                <a:latin typeface="Aptos Display"/>
              </a:rPr>
              <a:t>1/66</a:t>
            </a:r>
            <a:endParaRPr lang="en-US" sz="260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22E48F72-DEA6-41AA-7C02-320A1F234871}"/>
              </a:ext>
            </a:extLst>
          </p:cNvPr>
          <p:cNvSpPr/>
          <p:nvPr/>
        </p:nvSpPr>
        <p:spPr>
          <a:xfrm>
            <a:off x="6823166" y="2600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flagged cycles</a:t>
            </a:r>
            <a:endParaRPr lang="en-US" sz="105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50E581F2-3440-6E92-C16D-A261E71A0318}"/>
              </a:ext>
            </a:extLst>
          </p:cNvPr>
          <p:cNvSpPr/>
          <p:nvPr/>
        </p:nvSpPr>
        <p:spPr>
          <a:xfrm>
            <a:off x="8564880" y="2098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B000"/>
                </a:solidFill>
                <a:latin typeface="Aptos Display"/>
              </a:rPr>
              <a:t>1.5%</a:t>
            </a:r>
            <a:endParaRPr lang="en-US" sz="2600">
              <a:latin typeface="Aptos Display"/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B432A75-845E-A032-22C8-5AC587209221}"/>
              </a:ext>
            </a:extLst>
          </p:cNvPr>
          <p:cNvSpPr/>
          <p:nvPr/>
        </p:nvSpPr>
        <p:spPr>
          <a:xfrm>
            <a:off x="8695509" y="2608217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flagged percentage</a:t>
            </a:r>
            <a:endParaRPr lang="en-US" sz="105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6041A648-E205-878E-DD20-C8D08D456EBC}"/>
              </a:ext>
            </a:extLst>
          </p:cNvPr>
          <p:cNvSpPr/>
          <p:nvPr/>
        </p:nvSpPr>
        <p:spPr>
          <a:xfrm>
            <a:off x="6492240" y="3787503"/>
            <a:ext cx="5598160" cy="131281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Flagged cycles were mainly related to low S1/S2 amplitude ratio or slightly prolonged systolic interval.</a:t>
            </a:r>
            <a:endParaRPr lang="en-US" sz="1800"/>
          </a:p>
          <a:p>
            <a:endParaRPr lang="en-US">
              <a:solidFill>
                <a:srgbClr val="111827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Flagged does not mean abnormal diagnosis; it means the signal-derived cycle should be inspected.</a:t>
            </a: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Per-cycle feature statistics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94080" y="545461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>
                <a:solidFill>
                  <a:srgbClr val="64748B"/>
                </a:solidFill>
              </a:rPr>
              <a:t>Feature distributions across accepted cycles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7670074" y="1748246"/>
            <a:ext cx="1828800" cy="457200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080"/>
          </a:p>
        </p:txBody>
      </p:sp>
      <p:sp>
        <p:nvSpPr>
          <p:cNvPr id="8" name="Text 5"/>
          <p:cNvSpPr/>
          <p:nvPr/>
        </p:nvSpPr>
        <p:spPr>
          <a:xfrm>
            <a:off x="9498874" y="1748246"/>
            <a:ext cx="1097280" cy="457200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1080"/>
          </a:p>
        </p:txBody>
      </p:sp>
      <p:sp>
        <p:nvSpPr>
          <p:cNvPr id="9" name="Text 6"/>
          <p:cNvSpPr/>
          <p:nvPr/>
        </p:nvSpPr>
        <p:spPr>
          <a:xfrm>
            <a:off x="10596154" y="1748246"/>
            <a:ext cx="1463040" cy="457200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</a:t>
            </a:r>
            <a:endParaRPr lang="en-US" sz="1080"/>
          </a:p>
        </p:txBody>
      </p:sp>
      <p:sp>
        <p:nvSpPr>
          <p:cNvPr id="10" name="Text 7"/>
          <p:cNvSpPr/>
          <p:nvPr/>
        </p:nvSpPr>
        <p:spPr>
          <a:xfrm>
            <a:off x="7670074" y="2205446"/>
            <a:ext cx="182880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rate</a:t>
            </a:r>
            <a:endParaRPr lang="en-US" sz="1080"/>
          </a:p>
        </p:txBody>
      </p:sp>
      <p:sp>
        <p:nvSpPr>
          <p:cNvPr id="11" name="Text 8"/>
          <p:cNvSpPr/>
          <p:nvPr/>
        </p:nvSpPr>
        <p:spPr>
          <a:xfrm>
            <a:off x="9498874" y="2205446"/>
            <a:ext cx="10972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/>
            <a:r>
              <a:rPr lang="en-US" sz="1050">
                <a:solidFill>
                  <a:srgbClr val="111827"/>
                </a:solidFill>
                <a:ea typeface="+mn-lt"/>
                <a:cs typeface="+mn-lt"/>
              </a:rPr>
              <a:t>67.75 bpm</a:t>
            </a:r>
            <a:endParaRPr lang="en-US" sz="1050">
              <a:ea typeface="+mn-lt"/>
              <a:cs typeface="+mn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596154" y="2205446"/>
            <a:ext cx="146304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ea typeface="+mn-lt"/>
                <a:cs typeface="+mn-lt"/>
              </a:rPr>
              <a:t>50.67–91.38</a:t>
            </a:r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70074" y="2662646"/>
            <a:ext cx="182880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 duration</a:t>
            </a:r>
            <a:endParaRPr lang="en-US" sz="1080"/>
          </a:p>
        </p:txBody>
      </p:sp>
      <p:sp>
        <p:nvSpPr>
          <p:cNvPr id="14" name="Text 11"/>
          <p:cNvSpPr/>
          <p:nvPr/>
        </p:nvSpPr>
        <p:spPr>
          <a:xfrm>
            <a:off x="9498874" y="2662646"/>
            <a:ext cx="109728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ea typeface="+mn-lt"/>
                <a:cs typeface="+mn-lt"/>
              </a:rPr>
              <a:t>95.94 </a:t>
            </a:r>
            <a:r>
              <a:rPr lang="en-US" sz="1050" err="1">
                <a:solidFill>
                  <a:srgbClr val="111827"/>
                </a:solidFill>
                <a:ea typeface="+mn-lt"/>
                <a:cs typeface="+mn-lt"/>
              </a:rPr>
              <a:t>ms</a:t>
            </a:r>
            <a:endParaRPr lang="en-US" sz="1050" err="1">
              <a:ea typeface="+mn-lt"/>
              <a:cs typeface="+mn-lt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596154" y="2662646"/>
            <a:ext cx="146304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ea typeface="+mn-lt"/>
                <a:cs typeface="+mn-lt"/>
              </a:rPr>
              <a:t>40.12–129.00</a:t>
            </a:r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70074" y="3119846"/>
            <a:ext cx="182880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duration</a:t>
            </a:r>
            <a:endParaRPr lang="en-US" sz="1080"/>
          </a:p>
        </p:txBody>
      </p:sp>
      <p:sp>
        <p:nvSpPr>
          <p:cNvPr id="17" name="Text 14"/>
          <p:cNvSpPr/>
          <p:nvPr/>
        </p:nvSpPr>
        <p:spPr>
          <a:xfrm>
            <a:off x="9498874" y="3119846"/>
            <a:ext cx="10972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ea typeface="+mn-lt"/>
                <a:cs typeface="+mn-lt"/>
              </a:rPr>
              <a:t>96.44 </a:t>
            </a:r>
            <a:r>
              <a:rPr lang="en-US" sz="1050" err="1">
                <a:solidFill>
                  <a:srgbClr val="111827"/>
                </a:solidFill>
                <a:ea typeface="+mn-lt"/>
                <a:cs typeface="+mn-lt"/>
              </a:rPr>
              <a:t>ms</a:t>
            </a:r>
            <a:endParaRPr lang="en-US" sz="1050" err="1">
              <a:ea typeface="+mn-lt"/>
              <a:cs typeface="+mn-lt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596154" y="3119846"/>
            <a:ext cx="146304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ea typeface="+mn-lt"/>
                <a:cs typeface="+mn-lt"/>
              </a:rPr>
              <a:t>46.12–117.38</a:t>
            </a:r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670074" y="3577046"/>
            <a:ext cx="182880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Systolic interval</a:t>
            </a:r>
            <a:endParaRPr lang="en-US" sz="1080"/>
          </a:p>
        </p:txBody>
      </p:sp>
      <p:sp>
        <p:nvSpPr>
          <p:cNvPr id="20" name="Text 17"/>
          <p:cNvSpPr/>
          <p:nvPr/>
        </p:nvSpPr>
        <p:spPr>
          <a:xfrm>
            <a:off x="9498874" y="3577046"/>
            <a:ext cx="109728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ea typeface="+mn-lt"/>
                <a:cs typeface="+mn-lt"/>
              </a:rPr>
              <a:t>336.44 </a:t>
            </a:r>
            <a:r>
              <a:rPr lang="en-US" sz="1050" err="1">
                <a:solidFill>
                  <a:srgbClr val="111827"/>
                </a:solidFill>
                <a:ea typeface="+mn-lt"/>
                <a:cs typeface="+mn-lt"/>
              </a:rPr>
              <a:t>ms</a:t>
            </a:r>
            <a:endParaRPr lang="en-US" sz="1050" err="1">
              <a:ea typeface="+mn-lt"/>
              <a:cs typeface="+mn-lt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596154" y="3577046"/>
            <a:ext cx="146304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ea typeface="+mn-lt"/>
                <a:cs typeface="+mn-lt"/>
              </a:rPr>
              <a:t>216.50–491.38</a:t>
            </a:r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670074" y="4034246"/>
            <a:ext cx="182880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Diastolic interval</a:t>
            </a:r>
            <a:endParaRPr lang="en-US" sz="1080"/>
          </a:p>
        </p:txBody>
      </p:sp>
      <p:sp>
        <p:nvSpPr>
          <p:cNvPr id="23" name="Text 20"/>
          <p:cNvSpPr/>
          <p:nvPr/>
        </p:nvSpPr>
        <p:spPr>
          <a:xfrm>
            <a:off x="9498874" y="4034246"/>
            <a:ext cx="10972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/>
            <a:r>
              <a:rPr lang="en-US" sz="1050">
                <a:solidFill>
                  <a:srgbClr val="111827"/>
                </a:solidFill>
                <a:ea typeface="+mn-lt"/>
                <a:cs typeface="+mn-lt"/>
              </a:rPr>
              <a:t>548.50 </a:t>
            </a:r>
            <a:r>
              <a:rPr lang="en-US" sz="1050" err="1">
                <a:solidFill>
                  <a:srgbClr val="111827"/>
                </a:solidFill>
                <a:ea typeface="+mn-lt"/>
                <a:cs typeface="+mn-lt"/>
              </a:rPr>
              <a:t>ms</a:t>
            </a:r>
            <a:r>
              <a:rPr lang="en-US" sz="1050">
                <a:solidFill>
                  <a:srgbClr val="111827"/>
                </a:solidFill>
                <a:ea typeface="+mn-lt"/>
                <a:cs typeface="+mn-lt"/>
              </a:rPr>
              <a:t> </a:t>
            </a:r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596154" y="4034246"/>
            <a:ext cx="146304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ea typeface="+mn-lt"/>
                <a:cs typeface="+mn-lt"/>
              </a:rPr>
              <a:t>345.25–843.75</a:t>
            </a:r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15257" y="5944326"/>
            <a:ext cx="10072914" cy="26343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S1 and S2 durations were relatively stable.</a:t>
            </a:r>
            <a:endParaRPr lang="en-US" sz="1700"/>
          </a:p>
        </p:txBody>
      </p:sp>
      <p:sp>
        <p:nvSpPr>
          <p:cNvPr id="26" name="Shape 2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Data source: Report Table 13 and Fig. 21</a:t>
            </a:r>
            <a:endParaRPr lang="en-US" sz="85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259A111-6BE5-16BB-ACE7-D10F086C9E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7" t="42" r="91" b="98"/>
          <a:stretch>
            <a:fillRect/>
          </a:stretch>
        </p:blipFill>
        <p:spPr>
          <a:xfrm>
            <a:off x="245609" y="1039425"/>
            <a:ext cx="7245083" cy="41670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Heart rate and short-window HRV-like analysis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processing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523342" y="6024298"/>
            <a:ext cx="5654766" cy="484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>
                <a:solidFill>
                  <a:srgbClr val="64748B"/>
                </a:solidFill>
              </a:rPr>
              <a:t>S1-S1 tachogram, instantaneous heart rate, interval distribution</a:t>
            </a:r>
            <a:endParaRPr lang="en-US" sz="1500"/>
          </a:p>
        </p:txBody>
      </p:sp>
      <p:sp>
        <p:nvSpPr>
          <p:cNvPr id="12" name="Shape 9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Source figure: Report Fig. 22</a:t>
            </a:r>
            <a:endParaRPr lang="en-US" sz="8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09D5CE-ECCF-901A-94D6-55BE247AB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679" y="949324"/>
            <a:ext cx="8299904" cy="50754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HRV-like metrics and robust artifact rejection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735182" y="3293437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>
                <a:solidFill>
                  <a:srgbClr val="64748B"/>
                </a:solidFill>
              </a:rPr>
              <a:t>Robust screening of S1-S1 intervals</a:t>
            </a:r>
            <a:endParaRPr lang="en-US" sz="1500"/>
          </a:p>
        </p:txBody>
      </p:sp>
      <p:sp>
        <p:nvSpPr>
          <p:cNvPr id="26" name="Shape 2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</a:rPr>
              <a:t>Data source: Report Tables 15-16 and Fig. 23</a:t>
            </a:r>
            <a:endParaRPr lang="en-US" sz="90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5BC1720-2887-C626-53E5-9D3BDB44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57" y="960614"/>
            <a:ext cx="8171545" cy="2193569"/>
          </a:xfrm>
          <a:prstGeom prst="rect">
            <a:avLst/>
          </a:prstGeom>
        </p:spPr>
      </p:pic>
      <p:sp>
        <p:nvSpPr>
          <p:cNvPr id="92" name="Text 13">
            <a:extLst>
              <a:ext uri="{FF2B5EF4-FFF2-40B4-BE49-F238E27FC236}">
                <a16:creationId xmlns:a16="http://schemas.microsoft.com/office/drawing/2014/main" id="{3CD63057-FCF8-9866-9C9D-A128BD3A9368}"/>
              </a:ext>
            </a:extLst>
          </p:cNvPr>
          <p:cNvSpPr/>
          <p:nvPr/>
        </p:nvSpPr>
        <p:spPr>
          <a:xfrm>
            <a:off x="6643913" y="4892766"/>
            <a:ext cx="164592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SDNN</a:t>
            </a:r>
            <a:endParaRPr lang="en-US" sz="1080"/>
          </a:p>
        </p:txBody>
      </p:sp>
      <p:sp>
        <p:nvSpPr>
          <p:cNvPr id="93" name="Text 14">
            <a:extLst>
              <a:ext uri="{FF2B5EF4-FFF2-40B4-BE49-F238E27FC236}">
                <a16:creationId xmlns:a16="http://schemas.microsoft.com/office/drawing/2014/main" id="{201A6A8E-7316-67C2-3E4E-B139A962ACA3}"/>
              </a:ext>
            </a:extLst>
          </p:cNvPr>
          <p:cNvSpPr/>
          <p:nvPr/>
        </p:nvSpPr>
        <p:spPr>
          <a:xfrm>
            <a:off x="8289833" y="4878252"/>
            <a:ext cx="150876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104.5 </a:t>
            </a:r>
            <a:r>
              <a:rPr lang="en-US" sz="1050" err="1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ms</a:t>
            </a:r>
            <a:endParaRPr lang="en-US" sz="1050" err="1">
              <a:latin typeface="Aptos"/>
            </a:endParaRPr>
          </a:p>
        </p:txBody>
      </p:sp>
      <p:sp>
        <p:nvSpPr>
          <p:cNvPr id="94" name="Text 15">
            <a:extLst>
              <a:ext uri="{FF2B5EF4-FFF2-40B4-BE49-F238E27FC236}">
                <a16:creationId xmlns:a16="http://schemas.microsoft.com/office/drawing/2014/main" id="{572505C9-D1B9-B4DD-C521-E75D834E3F59}"/>
              </a:ext>
            </a:extLst>
          </p:cNvPr>
          <p:cNvSpPr/>
          <p:nvPr/>
        </p:nvSpPr>
        <p:spPr>
          <a:xfrm>
            <a:off x="9798593" y="4878252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90.1 </a:t>
            </a:r>
            <a:r>
              <a:rPr lang="en-US" sz="1050" err="1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ms</a:t>
            </a:r>
            <a:endParaRPr lang="en-US" sz="1050" err="1">
              <a:latin typeface="Aptos"/>
            </a:endParaRPr>
          </a:p>
        </p:txBody>
      </p:sp>
      <p:sp>
        <p:nvSpPr>
          <p:cNvPr id="95" name="Text 16">
            <a:extLst>
              <a:ext uri="{FF2B5EF4-FFF2-40B4-BE49-F238E27FC236}">
                <a16:creationId xmlns:a16="http://schemas.microsoft.com/office/drawing/2014/main" id="{26AED833-9EAC-9E45-AA52-D74E7B702B21}"/>
              </a:ext>
            </a:extLst>
          </p:cNvPr>
          <p:cNvSpPr/>
          <p:nvPr/>
        </p:nvSpPr>
        <p:spPr>
          <a:xfrm>
            <a:off x="6643913" y="5335452"/>
            <a:ext cx="164592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RMSSD</a:t>
            </a:r>
            <a:endParaRPr lang="en-US" sz="1080"/>
          </a:p>
        </p:txBody>
      </p:sp>
      <p:sp>
        <p:nvSpPr>
          <p:cNvPr id="96" name="Text 17">
            <a:extLst>
              <a:ext uri="{FF2B5EF4-FFF2-40B4-BE49-F238E27FC236}">
                <a16:creationId xmlns:a16="http://schemas.microsoft.com/office/drawing/2014/main" id="{3256D5AD-2D6C-E8C5-57E3-21ECD693F5A4}"/>
              </a:ext>
            </a:extLst>
          </p:cNvPr>
          <p:cNvSpPr/>
          <p:nvPr/>
        </p:nvSpPr>
        <p:spPr>
          <a:xfrm>
            <a:off x="8289833" y="5335452"/>
            <a:ext cx="150876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101.1 </a:t>
            </a:r>
            <a:r>
              <a:rPr lang="en-US" sz="1050" err="1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ms</a:t>
            </a:r>
            <a:endParaRPr lang="en-US" sz="1050" err="1">
              <a:latin typeface="Aptos"/>
            </a:endParaRPr>
          </a:p>
        </p:txBody>
      </p:sp>
      <p:sp>
        <p:nvSpPr>
          <p:cNvPr id="97" name="Text 18">
            <a:extLst>
              <a:ext uri="{FF2B5EF4-FFF2-40B4-BE49-F238E27FC236}">
                <a16:creationId xmlns:a16="http://schemas.microsoft.com/office/drawing/2014/main" id="{4E59A49E-3A4F-2292-5976-C8E523B03413}"/>
              </a:ext>
            </a:extLst>
          </p:cNvPr>
          <p:cNvSpPr/>
          <p:nvPr/>
        </p:nvSpPr>
        <p:spPr>
          <a:xfrm>
            <a:off x="9798593" y="5335452"/>
            <a:ext cx="201168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95.8  </a:t>
            </a:r>
            <a:r>
              <a:rPr lang="en-US" sz="1050" err="1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ms</a:t>
            </a:r>
            <a:endParaRPr lang="en-US" sz="1050" err="1">
              <a:latin typeface="Aptos"/>
            </a:endParaRPr>
          </a:p>
        </p:txBody>
      </p:sp>
      <p:sp>
        <p:nvSpPr>
          <p:cNvPr id="98" name="Text 19">
            <a:extLst>
              <a:ext uri="{FF2B5EF4-FFF2-40B4-BE49-F238E27FC236}">
                <a16:creationId xmlns:a16="http://schemas.microsoft.com/office/drawing/2014/main" id="{01120483-1302-C5A0-69CA-CB01230765D1}"/>
              </a:ext>
            </a:extLst>
          </p:cNvPr>
          <p:cNvSpPr/>
          <p:nvPr/>
        </p:nvSpPr>
        <p:spPr>
          <a:xfrm>
            <a:off x="6643913" y="5763623"/>
            <a:ext cx="164592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HR</a:t>
            </a:r>
            <a:endParaRPr lang="en-US" sz="1080"/>
          </a:p>
        </p:txBody>
      </p:sp>
      <p:sp>
        <p:nvSpPr>
          <p:cNvPr id="99" name="Text 20">
            <a:extLst>
              <a:ext uri="{FF2B5EF4-FFF2-40B4-BE49-F238E27FC236}">
                <a16:creationId xmlns:a16="http://schemas.microsoft.com/office/drawing/2014/main" id="{32933B79-B4B3-3C23-B764-18337B988BE6}"/>
              </a:ext>
            </a:extLst>
          </p:cNvPr>
          <p:cNvSpPr/>
          <p:nvPr/>
        </p:nvSpPr>
        <p:spPr>
          <a:xfrm>
            <a:off x="8289833" y="5792652"/>
            <a:ext cx="150876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69.4 bpm</a:t>
            </a:r>
            <a:endParaRPr lang="en-US" sz="1050">
              <a:latin typeface="Aptos"/>
            </a:endParaRPr>
          </a:p>
        </p:txBody>
      </p:sp>
      <p:sp>
        <p:nvSpPr>
          <p:cNvPr id="100" name="Text 21">
            <a:extLst>
              <a:ext uri="{FF2B5EF4-FFF2-40B4-BE49-F238E27FC236}">
                <a16:creationId xmlns:a16="http://schemas.microsoft.com/office/drawing/2014/main" id="{EB7A164A-172F-8BCB-29CA-A6C19BF08D97}"/>
              </a:ext>
            </a:extLst>
          </p:cNvPr>
          <p:cNvSpPr/>
          <p:nvPr/>
        </p:nvSpPr>
        <p:spPr>
          <a:xfrm>
            <a:off x="9798593" y="5763623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69.6 bpm</a:t>
            </a:r>
            <a:endParaRPr lang="en-US" sz="1050">
              <a:latin typeface="Aptos"/>
            </a:endParaRPr>
          </a:p>
        </p:txBody>
      </p:sp>
      <p:sp>
        <p:nvSpPr>
          <p:cNvPr id="101" name="Text 4">
            <a:extLst>
              <a:ext uri="{FF2B5EF4-FFF2-40B4-BE49-F238E27FC236}">
                <a16:creationId xmlns:a16="http://schemas.microsoft.com/office/drawing/2014/main" id="{5170FD46-1626-9564-8256-1DC5930209EB}"/>
              </a:ext>
            </a:extLst>
          </p:cNvPr>
          <p:cNvSpPr/>
          <p:nvPr/>
        </p:nvSpPr>
        <p:spPr>
          <a:xfrm>
            <a:off x="6643913" y="3506652"/>
            <a:ext cx="1645920" cy="457200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080"/>
          </a:p>
        </p:txBody>
      </p:sp>
      <p:sp>
        <p:nvSpPr>
          <p:cNvPr id="102" name="Text 5">
            <a:extLst>
              <a:ext uri="{FF2B5EF4-FFF2-40B4-BE49-F238E27FC236}">
                <a16:creationId xmlns:a16="http://schemas.microsoft.com/office/drawing/2014/main" id="{5A538253-709F-1CF0-88CB-3A5D75EE246C}"/>
              </a:ext>
            </a:extLst>
          </p:cNvPr>
          <p:cNvSpPr/>
          <p:nvPr/>
        </p:nvSpPr>
        <p:spPr>
          <a:xfrm>
            <a:off x="8289833" y="3506652"/>
            <a:ext cx="1508760" cy="457200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1080"/>
          </a:p>
        </p:txBody>
      </p:sp>
      <p:sp>
        <p:nvSpPr>
          <p:cNvPr id="103" name="Text 6">
            <a:extLst>
              <a:ext uri="{FF2B5EF4-FFF2-40B4-BE49-F238E27FC236}">
                <a16:creationId xmlns:a16="http://schemas.microsoft.com/office/drawing/2014/main" id="{EE641D78-AF9F-763A-A772-0B134B066822}"/>
              </a:ext>
            </a:extLst>
          </p:cNvPr>
          <p:cNvSpPr/>
          <p:nvPr/>
        </p:nvSpPr>
        <p:spPr>
          <a:xfrm>
            <a:off x="9798593" y="3506652"/>
            <a:ext cx="2011680" cy="457200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</a:t>
            </a:r>
            <a:endParaRPr lang="en-US" sz="1080"/>
          </a:p>
        </p:txBody>
      </p:sp>
      <p:sp>
        <p:nvSpPr>
          <p:cNvPr id="104" name="Text 7">
            <a:extLst>
              <a:ext uri="{FF2B5EF4-FFF2-40B4-BE49-F238E27FC236}">
                <a16:creationId xmlns:a16="http://schemas.microsoft.com/office/drawing/2014/main" id="{5B38D837-E6EF-6150-9909-25F7A9E895FE}"/>
              </a:ext>
            </a:extLst>
          </p:cNvPr>
          <p:cNvSpPr/>
          <p:nvPr/>
        </p:nvSpPr>
        <p:spPr>
          <a:xfrm>
            <a:off x="6643913" y="3963852"/>
            <a:ext cx="164592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Intervals</a:t>
            </a:r>
            <a:endParaRPr lang="en-US" sz="1080"/>
          </a:p>
        </p:txBody>
      </p:sp>
      <p:sp>
        <p:nvSpPr>
          <p:cNvPr id="105" name="Text 8">
            <a:extLst>
              <a:ext uri="{FF2B5EF4-FFF2-40B4-BE49-F238E27FC236}">
                <a16:creationId xmlns:a16="http://schemas.microsoft.com/office/drawing/2014/main" id="{B75B6680-2A74-95F2-0669-6785BA93F82B}"/>
              </a:ext>
            </a:extLst>
          </p:cNvPr>
          <p:cNvSpPr/>
          <p:nvPr/>
        </p:nvSpPr>
        <p:spPr>
          <a:xfrm>
            <a:off x="8289833" y="3963852"/>
            <a:ext cx="150876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latin typeface="Aptos"/>
              </a:rPr>
              <a:t>69</a:t>
            </a:r>
            <a:endParaRPr lang="en-US" sz="1050">
              <a:solidFill>
                <a:srgbClr val="111827"/>
              </a:solidFill>
            </a:endParaRPr>
          </a:p>
        </p:txBody>
      </p:sp>
      <p:sp>
        <p:nvSpPr>
          <p:cNvPr id="106" name="Text 9">
            <a:extLst>
              <a:ext uri="{FF2B5EF4-FFF2-40B4-BE49-F238E27FC236}">
                <a16:creationId xmlns:a16="http://schemas.microsoft.com/office/drawing/2014/main" id="{7DC5B1FF-57CD-2631-D7CF-BC9E74E39EE0}"/>
              </a:ext>
            </a:extLst>
          </p:cNvPr>
          <p:cNvSpPr/>
          <p:nvPr/>
        </p:nvSpPr>
        <p:spPr>
          <a:xfrm>
            <a:off x="9798593" y="3963852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66 kept / 3 rejected</a:t>
            </a:r>
            <a:endParaRPr lang="en-US" sz="1050">
              <a:latin typeface="Aptos"/>
            </a:endParaRPr>
          </a:p>
        </p:txBody>
      </p:sp>
      <p:sp>
        <p:nvSpPr>
          <p:cNvPr id="107" name="Text 10">
            <a:extLst>
              <a:ext uri="{FF2B5EF4-FFF2-40B4-BE49-F238E27FC236}">
                <a16:creationId xmlns:a16="http://schemas.microsoft.com/office/drawing/2014/main" id="{06BE429E-D374-125D-C44E-B042C79B2BD0}"/>
              </a:ext>
            </a:extLst>
          </p:cNvPr>
          <p:cNvSpPr/>
          <p:nvPr/>
        </p:nvSpPr>
        <p:spPr>
          <a:xfrm>
            <a:off x="6643913" y="4421052"/>
            <a:ext cx="164592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NN</a:t>
            </a:r>
            <a:endParaRPr lang="en-US" sz="1080"/>
          </a:p>
        </p:txBody>
      </p:sp>
      <p:sp>
        <p:nvSpPr>
          <p:cNvPr id="108" name="Text 11">
            <a:extLst>
              <a:ext uri="{FF2B5EF4-FFF2-40B4-BE49-F238E27FC236}">
                <a16:creationId xmlns:a16="http://schemas.microsoft.com/office/drawing/2014/main" id="{AF64A254-4DE5-7C74-CF42-38AEFDE71CE5}"/>
              </a:ext>
            </a:extLst>
          </p:cNvPr>
          <p:cNvSpPr/>
          <p:nvPr/>
        </p:nvSpPr>
        <p:spPr>
          <a:xfrm>
            <a:off x="8289833" y="4421052"/>
            <a:ext cx="150876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877.2 </a:t>
            </a:r>
            <a:r>
              <a:rPr lang="en-US" sz="1050" err="1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ms</a:t>
            </a:r>
            <a:endParaRPr lang="en-US" sz="1050" err="1">
              <a:latin typeface="Aptos"/>
            </a:endParaRPr>
          </a:p>
        </p:txBody>
      </p:sp>
      <p:sp>
        <p:nvSpPr>
          <p:cNvPr id="109" name="Text 12">
            <a:extLst>
              <a:ext uri="{FF2B5EF4-FFF2-40B4-BE49-F238E27FC236}">
                <a16:creationId xmlns:a16="http://schemas.microsoft.com/office/drawing/2014/main" id="{82487753-4ED8-4ADB-D64F-E4EC115256FF}"/>
              </a:ext>
            </a:extLst>
          </p:cNvPr>
          <p:cNvSpPr/>
          <p:nvPr/>
        </p:nvSpPr>
        <p:spPr>
          <a:xfrm>
            <a:off x="9798593" y="4421052"/>
            <a:ext cx="2011680" cy="457200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872.1 </a:t>
            </a:r>
            <a:r>
              <a:rPr lang="en-US" sz="1050" err="1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ms</a:t>
            </a:r>
            <a:endParaRPr lang="en-US" sz="1050" err="1">
              <a:latin typeface="Apto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Cycle morphology consistency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processing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58669" y="512804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>
                <a:solidFill>
                  <a:srgbClr val="64748B"/>
                </a:solidFill>
              </a:rPr>
              <a:t>Aligned cycles and cycle-to-template similarity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7403737" y="1132841"/>
            <a:ext cx="4212045" cy="229253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endParaRPr lang="en-US" sz="1600">
              <a:solidFill>
                <a:srgbClr val="111827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Source figure: Report Fig. 16</a:t>
            </a:r>
            <a:endParaRPr lang="en-US" sz="8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1273EC-24F0-013D-0D34-CA5A246D9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30" y="952954"/>
            <a:ext cx="6760483" cy="389255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679ABF54-7097-6108-F6F2-3498A8C2CFD0}"/>
              </a:ext>
            </a:extLst>
          </p:cNvPr>
          <p:cNvSpPr/>
          <p:nvPr/>
        </p:nvSpPr>
        <p:spPr>
          <a:xfrm>
            <a:off x="8001001" y="1880325"/>
            <a:ext cx="1828800" cy="329184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1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</a:t>
            </a:r>
            <a:endParaRPr lang="en-US" sz="111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CD76066C-F419-44C7-AAF7-0272D92EFBC8}"/>
              </a:ext>
            </a:extLst>
          </p:cNvPr>
          <p:cNvSpPr/>
          <p:nvPr/>
        </p:nvSpPr>
        <p:spPr>
          <a:xfrm>
            <a:off x="9800772" y="1880325"/>
            <a:ext cx="1828800" cy="329184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1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share</a:t>
            </a:r>
            <a:endParaRPr lang="en-US" sz="111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CFA5B35-A627-3BFB-673D-2EDA86909ACE}"/>
              </a:ext>
            </a:extLst>
          </p:cNvPr>
          <p:cNvSpPr/>
          <p:nvPr/>
        </p:nvSpPr>
        <p:spPr>
          <a:xfrm>
            <a:off x="7971972" y="2209509"/>
            <a:ext cx="1828800" cy="329184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1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25-60 Hz</a:t>
            </a:r>
            <a:endParaRPr lang="en-US" sz="111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A3EE4EFC-D56B-2331-A971-D7BF2A1A414D}"/>
              </a:ext>
            </a:extLst>
          </p:cNvPr>
          <p:cNvSpPr/>
          <p:nvPr/>
        </p:nvSpPr>
        <p:spPr>
          <a:xfrm>
            <a:off x="9786258" y="2209509"/>
            <a:ext cx="1828800" cy="329184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111827"/>
                </a:solidFill>
                <a:latin typeface="Aptos"/>
              </a:rPr>
              <a:t>68.71%</a:t>
            </a:r>
            <a:endParaRPr lang="en-US" sz="1100">
              <a:latin typeface="Aptos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CF3FDAD-F503-1EB7-1991-C19D9310CCAF}"/>
              </a:ext>
            </a:extLst>
          </p:cNvPr>
          <p:cNvSpPr/>
          <p:nvPr/>
        </p:nvSpPr>
        <p:spPr>
          <a:xfrm>
            <a:off x="7971972" y="2538693"/>
            <a:ext cx="1828800" cy="329184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1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60-120 Hz</a:t>
            </a:r>
            <a:endParaRPr lang="en-US" sz="111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3D6E8CC4-E04C-BBAF-4342-8462A07294BF}"/>
              </a:ext>
            </a:extLst>
          </p:cNvPr>
          <p:cNvSpPr/>
          <p:nvPr/>
        </p:nvSpPr>
        <p:spPr>
          <a:xfrm>
            <a:off x="9800772" y="2538693"/>
            <a:ext cx="1828800" cy="329184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111827"/>
                </a:solidFill>
                <a:latin typeface="Aptos"/>
              </a:rPr>
              <a:t>23.16%</a:t>
            </a:r>
            <a:endParaRPr lang="en-US" sz="1100">
              <a:latin typeface="Aptos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4EA231D9-0650-BBA2-6A3B-E993EA8B162B}"/>
              </a:ext>
            </a:extLst>
          </p:cNvPr>
          <p:cNvSpPr/>
          <p:nvPr/>
        </p:nvSpPr>
        <p:spPr>
          <a:xfrm>
            <a:off x="7971972" y="2867877"/>
            <a:ext cx="1828800" cy="329184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1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120-200 Hz</a:t>
            </a:r>
            <a:endParaRPr lang="en-US" sz="111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88340A3C-DEB4-3FBD-774A-68225B7CD1E5}"/>
              </a:ext>
            </a:extLst>
          </p:cNvPr>
          <p:cNvSpPr/>
          <p:nvPr/>
        </p:nvSpPr>
        <p:spPr>
          <a:xfrm>
            <a:off x="9800772" y="2867877"/>
            <a:ext cx="1828800" cy="329184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111827"/>
                </a:solidFill>
                <a:latin typeface="Aptos"/>
                <a:ea typeface="Aptos" pitchFamily="34" charset="-122"/>
                <a:cs typeface="Aptos" pitchFamily="34" charset="-120"/>
              </a:rPr>
              <a:t>8.12%</a:t>
            </a:r>
            <a:endParaRPr lang="en-US" sz="1100">
              <a:latin typeface="Aptos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566F5258-BDB6-E5C2-B2F3-000DB6FD4A15}"/>
              </a:ext>
            </a:extLst>
          </p:cNvPr>
          <p:cNvSpPr/>
          <p:nvPr/>
        </p:nvSpPr>
        <p:spPr>
          <a:xfrm>
            <a:off x="7971972" y="3197061"/>
            <a:ext cx="1828800" cy="329184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1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Low-similarity cycles</a:t>
            </a:r>
            <a:endParaRPr lang="en-US" sz="111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9397C9F9-5249-DD4C-A6C1-257E3A025D13}"/>
              </a:ext>
            </a:extLst>
          </p:cNvPr>
          <p:cNvSpPr/>
          <p:nvPr/>
        </p:nvSpPr>
        <p:spPr>
          <a:xfrm>
            <a:off x="9800772" y="3197061"/>
            <a:ext cx="1828800" cy="329184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111827"/>
                </a:solidFill>
                <a:latin typeface="Aptos"/>
              </a:rPr>
              <a:t>64/65</a:t>
            </a:r>
            <a:endParaRPr lang="en-US" sz="111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Murmur-like acoustic activity candidate detection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processing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28206" y="6044619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>
                <a:solidFill>
                  <a:srgbClr val="64748B"/>
                </a:solidFill>
              </a:rPr>
              <a:t>Systolic and diastolic acoustic activity ratios</a:t>
            </a:r>
            <a:endParaRPr lang="en-US" sz="150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Source figure: Report Fig. 24</a:t>
            </a:r>
            <a:endParaRPr lang="en-US" sz="8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521826-6383-4140-14AB-E2103FA79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22" y="932997"/>
            <a:ext cx="7419069" cy="4992008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0C19A84A-3084-D79F-DDE8-1F480AA9E6C1}"/>
              </a:ext>
            </a:extLst>
          </p:cNvPr>
          <p:cNvSpPr/>
          <p:nvPr/>
        </p:nvSpPr>
        <p:spPr>
          <a:xfrm>
            <a:off x="8096795" y="2709817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>
                <a:solidFill>
                  <a:srgbClr val="25A244"/>
                </a:solidFill>
                <a:latin typeface="Aptos Display"/>
              </a:rPr>
              <a:t>55/66</a:t>
            </a:r>
            <a:endParaRPr lang="en-US" sz="2600">
              <a:latin typeface="Aptos Display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DA1B4F9-B203-A614-5E2B-B964AE6A3EC8}"/>
              </a:ext>
            </a:extLst>
          </p:cNvPr>
          <p:cNvSpPr/>
          <p:nvPr/>
        </p:nvSpPr>
        <p:spPr>
          <a:xfrm>
            <a:off x="8096794" y="321999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systolic active cycles</a:t>
            </a:r>
            <a:endParaRPr lang="en-US" sz="105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A9971DE-AA11-091E-34F0-A9FC392D601E}"/>
              </a:ext>
            </a:extLst>
          </p:cNvPr>
          <p:cNvSpPr/>
          <p:nvPr/>
        </p:nvSpPr>
        <p:spPr>
          <a:xfrm>
            <a:off x="9671594" y="2709817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>
                <a:solidFill>
                  <a:srgbClr val="FFB000"/>
                </a:solidFill>
                <a:latin typeface="Aptos Display"/>
              </a:rPr>
              <a:t>36/66</a:t>
            </a:r>
            <a:endParaRPr lang="en-US" sz="2600">
              <a:latin typeface="Aptos Display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1CFB16AC-B03E-7881-5F91-BE12598B14AD}"/>
              </a:ext>
            </a:extLst>
          </p:cNvPr>
          <p:cNvSpPr/>
          <p:nvPr/>
        </p:nvSpPr>
        <p:spPr>
          <a:xfrm>
            <a:off x="9671595" y="321999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mid-diastolic candidates</a:t>
            </a:r>
            <a:endParaRPr lang="en-US" sz="105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4B7008A-B31E-2746-DB9B-8A36D32A998B}"/>
              </a:ext>
            </a:extLst>
          </p:cNvPr>
          <p:cNvSpPr/>
          <p:nvPr/>
        </p:nvSpPr>
        <p:spPr>
          <a:xfrm>
            <a:off x="8096794" y="383104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>
                <a:solidFill>
                  <a:srgbClr val="FFB000"/>
                </a:solidFill>
                <a:latin typeface="Aptos Display"/>
              </a:rPr>
              <a:t>78.8%</a:t>
            </a:r>
            <a:endParaRPr lang="en-US" sz="2800">
              <a:latin typeface="Aptos Display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3A567C5-543D-B554-2F36-16FB96792B33}"/>
              </a:ext>
            </a:extLst>
          </p:cNvPr>
          <p:cNvSpPr/>
          <p:nvPr/>
        </p:nvSpPr>
        <p:spPr>
          <a:xfrm>
            <a:off x="8096794" y="4428309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mid/late diastolic active %</a:t>
            </a:r>
            <a:endParaRPr lang="en-US" sz="10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7DE2D1"/>
                </a:solidFill>
              </a:rPr>
              <a:t>06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platform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834640" cy="0"/>
          </a:xfrm>
          <a:prstGeom prst="line">
            <a:avLst/>
          </a:prstGeom>
          <a:noFill/>
          <a:ln w="508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595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D9E8FF"/>
                </a:solidFill>
              </a:rPr>
              <a:t>Web-based acquisition control, storage, patient context, and analysis visualization.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data flow sequence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Source figure: Report Fig. 20</a:t>
            </a:r>
            <a:endParaRPr lang="en-US" sz="850"/>
          </a:p>
        </p:txBody>
      </p:sp>
      <p:pic>
        <p:nvPicPr>
          <p:cNvPr id="9" name="Picture 8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F5A3C4BC-07D7-44A9-CE1E-C762EFB47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351233"/>
            <a:ext cx="11590211" cy="650676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9DF03-90EE-C7B7-7229-B363B7CF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A13D61-D135-2922-E3D9-DFAEE61BD224}"/>
              </a:ext>
            </a:extLst>
          </p:cNvPr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09233F"/>
                </a:solidFill>
                <a:latin typeface="Aptos Display"/>
              </a:rPr>
              <a:t>Reference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A30AE6-4AC3-30AD-D527-D24D9A2F6212}"/>
              </a:ext>
            </a:extLst>
          </p:cNvPr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0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205937-72C0-1D88-B45D-C01B1ABCC420}"/>
              </a:ext>
            </a:extLst>
          </p:cNvPr>
          <p:cNvSpPr/>
          <p:nvPr/>
        </p:nvSpPr>
        <p:spPr>
          <a:xfrm>
            <a:off x="798949" y="74073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8030C06-40C7-A9E9-181D-B4A4380DFBA1}"/>
              </a:ext>
            </a:extLst>
          </p:cNvPr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5D77553-8AB3-D9ED-0BFB-CDEE292A2755}"/>
              </a:ext>
            </a:extLst>
          </p:cNvPr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</a:rPr>
              <a:t>Digital Phonocardiography System | Lab of Internet of Medical Things</a:t>
            </a:r>
            <a:endParaRPr lang="en-US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CBEE2-D40B-AF07-B93E-92C99AA75870}"/>
              </a:ext>
            </a:extLst>
          </p:cNvPr>
          <p:cNvSpPr txBox="1"/>
          <p:nvPr/>
        </p:nvSpPr>
        <p:spPr>
          <a:xfrm>
            <a:off x="285065" y="951130"/>
            <a:ext cx="12455136" cy="547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400" i="1"/>
              <a:t>Partovi, E., Babic, A., &amp; </a:t>
            </a:r>
            <a:r>
              <a:rPr lang="en-US" sz="1400" i="1" err="1"/>
              <a:t>Gharehbaghi</a:t>
            </a:r>
            <a:r>
              <a:rPr lang="en-US" sz="1400" i="1"/>
              <a:t>, A. (2024). A review on deep learning methods for heart sound signal analysis. Frontiers in Artificial Intelligence, 7, 1434022.</a:t>
            </a:r>
            <a:endParaRPr lang="en-US"/>
          </a:p>
          <a:p>
            <a:pPr marL="342900" indent="-342900">
              <a:buAutoNum type="arabicPeriod"/>
            </a:pPr>
            <a:r>
              <a:rPr lang="en-US" sz="1400" i="1"/>
              <a:t>Ren, Z., Chang, Y., Nguyen, T. T., Tan, Y., Qian, K., &amp; Schuller, B. W. (2024). A comprehensive survey on heart sound analysis in the deep learning era. IEEE Computational Intelligence Magazine, 19(3), 42–57.</a:t>
            </a:r>
          </a:p>
          <a:p>
            <a:pPr marL="342900" indent="-342900">
              <a:buAutoNum type="arabicPeriod"/>
            </a:pPr>
            <a:r>
              <a:rPr lang="en-US" sz="1400" i="1"/>
              <a:t>Hamza, M. F. A. B., &amp; </a:t>
            </a:r>
            <a:r>
              <a:rPr lang="en-US" sz="1400" i="1" err="1"/>
              <a:t>Sjarif</a:t>
            </a:r>
            <a:r>
              <a:rPr lang="en-US" sz="1400" i="1"/>
              <a:t>, N. N. A. (2024). A comprehensive overview of heart sound analysis using machine learning methods. IEEE Access, 12, 117203–117217.</a:t>
            </a:r>
          </a:p>
          <a:p>
            <a:pPr marL="342900" indent="-342900">
              <a:buAutoNum type="arabicPeriod"/>
            </a:pPr>
            <a:r>
              <a:rPr lang="en-US" sz="1400" i="1"/>
              <a:t>Zhu, B., Zhou, Z., Yu, S., Liang, X., Xie, Y., &amp; Sun, Q. (2024). Review of phonocardiogram signal analysis: Insights from the PhysioNet/</a:t>
            </a:r>
            <a:r>
              <a:rPr lang="en-US" sz="1400" i="1" err="1"/>
              <a:t>CinC</a:t>
            </a:r>
            <a:r>
              <a:rPr lang="en-US" sz="1400" i="1"/>
              <a:t> Challenge 2016 database. Electronics, 13(16), 3222.</a:t>
            </a:r>
          </a:p>
          <a:p>
            <a:pPr marL="342900" indent="-342900">
              <a:buAutoNum type="arabicPeriod"/>
            </a:pPr>
            <a:r>
              <a:rPr lang="en-US" sz="1400" i="1" err="1"/>
              <a:t>Gudigar</a:t>
            </a:r>
            <a:r>
              <a:rPr lang="en-US" sz="1400" i="1"/>
              <a:t>, A., Raghavendra, U., Maithri, M., &amp; Samanth, J. (2024). Automated system for the detection of heart anomalies using phonocardiograms: A systematic review. IEEE Access, 12, 138399–138428.</a:t>
            </a:r>
          </a:p>
          <a:p>
            <a:pPr marL="342900" indent="-342900">
              <a:buAutoNum type="arabicPeriod"/>
            </a:pPr>
            <a:r>
              <a:rPr lang="en-US" sz="1400" i="1" err="1"/>
              <a:t>Arjoune</a:t>
            </a:r>
            <a:r>
              <a:rPr lang="en-US" sz="1400" i="1"/>
              <a:t>, Y., Nguyen, T. N., </a:t>
            </a:r>
            <a:r>
              <a:rPr lang="en-US" sz="1400" i="1" err="1"/>
              <a:t>Doroshow</a:t>
            </a:r>
            <a:r>
              <a:rPr lang="en-US" sz="1400" i="1"/>
              <a:t>, R. W., &amp; Shekhar, R. (2024). A noise-robust heart sound segmentation algorithm based on Shannon energy. IEEE Access, 12, 7747–7761.</a:t>
            </a:r>
          </a:p>
          <a:p>
            <a:pPr marL="342900" indent="-342900">
              <a:buAutoNum type="arabicPeriod"/>
            </a:pPr>
            <a:r>
              <a:rPr lang="en-US" sz="1400" i="1"/>
              <a:t>Alquran, H., Al-Issa, Y., </a:t>
            </a:r>
            <a:r>
              <a:rPr lang="en-US" sz="1400" i="1" err="1"/>
              <a:t>Alsalatie</a:t>
            </a:r>
            <a:r>
              <a:rPr lang="en-US" sz="1400" i="1"/>
              <a:t>, M., &amp; </a:t>
            </a:r>
            <a:r>
              <a:rPr lang="en-US" sz="1400" i="1" err="1"/>
              <a:t>Tawalbeh</a:t>
            </a:r>
            <a:r>
              <a:rPr lang="en-US" sz="1400" i="1"/>
              <a:t>, S. (2025). Deep learning models for segmenting phonocardiogram signals: A comparative study. PLOS ONE, 20(4), e0320297.</a:t>
            </a:r>
          </a:p>
          <a:p>
            <a:pPr marL="342900" indent="-342900">
              <a:buAutoNum type="arabicPeriod"/>
            </a:pPr>
            <a:r>
              <a:rPr lang="en-US" sz="1400" i="1" err="1"/>
              <a:t>Abdessater</a:t>
            </a:r>
            <a:r>
              <a:rPr lang="en-US" sz="1400" i="1"/>
              <a:t>, E., </a:t>
            </a:r>
            <a:r>
              <a:rPr lang="en-US" sz="1400" i="1" err="1"/>
              <a:t>Balali</a:t>
            </a:r>
            <a:r>
              <a:rPr lang="en-US" sz="1400" i="1"/>
              <a:t>, P., Pawlowski, J., Rabineau, J., </a:t>
            </a:r>
            <a:r>
              <a:rPr lang="en-US" sz="1400" i="1" err="1"/>
              <a:t>Tordeur</a:t>
            </a:r>
            <a:r>
              <a:rPr lang="en-US" sz="1400" i="1"/>
              <a:t>, C., Faoro, V., van de Borne, P., &amp; Hossein, A. (2025). A novel method for ECG-free heart sound segmentation in patients with severe aortic valve disease. Sensors, 25(11), 3360.</a:t>
            </a:r>
          </a:p>
          <a:p>
            <a:pPr marL="342900" indent="-342900">
              <a:buAutoNum type="arabicPeriod"/>
            </a:pPr>
            <a:r>
              <a:rPr lang="en-US" sz="1400" i="1" err="1"/>
              <a:t>Althaph</a:t>
            </a:r>
            <a:r>
              <a:rPr lang="en-US" sz="1400" i="1"/>
              <a:t>, B., &amp; Challa, N. P. (2025). Explainable attention-based deep learning for classification and interpretation of heart murmurs using phonocardiograms. Scientific Reports, 15, 37991.</a:t>
            </a:r>
          </a:p>
          <a:p>
            <a:pPr marL="342900" indent="-342900">
              <a:buAutoNum type="arabicPeriod"/>
            </a:pPr>
            <a:r>
              <a:rPr lang="en-US" sz="1400" i="1" err="1"/>
              <a:t>Alturki</a:t>
            </a:r>
            <a:r>
              <a:rPr lang="en-US" sz="1400" i="1"/>
              <a:t>, B., Abu Al-</a:t>
            </a:r>
            <a:r>
              <a:rPr lang="en-US" sz="1400" i="1" err="1"/>
              <a:t>Haija</a:t>
            </a:r>
            <a:r>
              <a:rPr lang="en-US" sz="1400" i="1"/>
              <a:t>, Q., </a:t>
            </a:r>
            <a:r>
              <a:rPr lang="en-US" sz="1400" i="1" err="1"/>
              <a:t>Alsemmeari</a:t>
            </a:r>
            <a:r>
              <a:rPr lang="en-US" sz="1400" i="1"/>
              <a:t>, R. A., et al. (2025). IoMT landscape: Navigating current challenges and pioneering future research trends. Discover Applied Sciences, 7, 26.</a:t>
            </a:r>
          </a:p>
          <a:p>
            <a:pPr marL="342900" indent="-342900">
              <a:buAutoNum type="arabicPeriod"/>
            </a:pPr>
            <a:r>
              <a:rPr lang="en-US" sz="1400" i="1"/>
              <a:t>Gallo, G. D., &amp; Micucci, D. (2025). Internet of Medical Things systems review: Insights into non-functional factors. Sensors, 25(9), 2795.</a:t>
            </a:r>
          </a:p>
          <a:p>
            <a:pPr marL="342900" indent="-342900">
              <a:buAutoNum type="arabicPeriod"/>
            </a:pPr>
            <a:r>
              <a:rPr lang="en-US" sz="1400" i="1"/>
              <a:t>Bluetooth SIG. (2025). Bluetooth Core Specification Version 6.1.</a:t>
            </a:r>
          </a:p>
          <a:p>
            <a:pPr marL="342900" indent="-342900">
              <a:buAutoNum type="arabicPeriod"/>
            </a:pPr>
            <a:r>
              <a:rPr lang="en-US" sz="1400" i="1" err="1"/>
              <a:t>SparkFun</a:t>
            </a:r>
            <a:r>
              <a:rPr lang="en-US" sz="1400" i="1"/>
              <a:t> Electronics. (n.d.). Sound Detector Hookup Guide.</a:t>
            </a:r>
          </a:p>
          <a:p>
            <a:pPr marL="342900" indent="-342900">
              <a:buAutoNum type="arabicPeriod"/>
            </a:pPr>
            <a:r>
              <a:rPr lang="en-US" sz="1400" i="1"/>
              <a:t>Arduino. (2025). Arduino Nano ESP32 User Manual.</a:t>
            </a:r>
          </a:p>
          <a:p>
            <a:pPr algn="ctr"/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6496784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9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08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400"/>
          </a:p>
        </p:txBody>
      </p:sp>
      <p:sp>
        <p:nvSpPr>
          <p:cNvPr id="3" name="Shape 1"/>
          <p:cNvSpPr/>
          <p:nvPr/>
        </p:nvSpPr>
        <p:spPr>
          <a:xfrm>
            <a:off x="640080" y="2331720"/>
            <a:ext cx="2286000" cy="0"/>
          </a:xfrm>
          <a:prstGeom prst="line">
            <a:avLst/>
          </a:prstGeom>
          <a:noFill/>
          <a:ln w="508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D9E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3200"/>
          </a:p>
        </p:txBody>
      </p:sp>
      <p:sp>
        <p:nvSpPr>
          <p:cNvPr id="7" name="Text 3"/>
          <p:cNvSpPr/>
          <p:nvPr/>
        </p:nvSpPr>
        <p:spPr>
          <a:xfrm>
            <a:off x="640080" y="5669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BFD7FF"/>
                </a:solidFill>
              </a:rPr>
              <a:t>Digital Phonocardiography System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BFD7FF"/>
                </a:solidFill>
              </a:rPr>
              <a:t>IoMT prototype for cardiac sound monitoring</a:t>
            </a:r>
            <a:endParaRPr lang="en-US" sz="1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9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7DE2D1"/>
                </a:solidFill>
              </a:rPr>
              <a:t>A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834640" cy="0"/>
          </a:xfrm>
          <a:prstGeom prst="line">
            <a:avLst/>
          </a:prstGeom>
          <a:noFill/>
          <a:ln w="508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595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D9E8FF"/>
                </a:solidFill>
              </a:rPr>
              <a:t>Backup slides for technical questions.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signal-processing parameters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37360" y="1097280"/>
            <a:ext cx="4206240" cy="393192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4297680" cy="393192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1737360" y="1490472"/>
            <a:ext cx="420624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rate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5943600" y="1490472"/>
            <a:ext cx="429768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 Hz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1737360" y="1883664"/>
            <a:ext cx="4206240" cy="393192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Band-pass range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943600" y="1883664"/>
            <a:ext cx="4297680" cy="393192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25-200 Hz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1737360" y="2276856"/>
            <a:ext cx="420624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Notch frequencies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5943600" y="2276856"/>
            <a:ext cx="429768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 100, 150 Hz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1737360" y="2670048"/>
            <a:ext cx="4206240" cy="393192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Notch Q factor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4297680" cy="393192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1737360" y="3063240"/>
            <a:ext cx="420624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order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5943600" y="3063240"/>
            <a:ext cx="429768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1737360" y="3456432"/>
            <a:ext cx="4206240" cy="393192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Wavelet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5943600" y="3456432"/>
            <a:ext cx="4297680" cy="393192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db6, level 4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1737360" y="3849624"/>
            <a:ext cx="420624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Envelope cutoff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5943600" y="3849624"/>
            <a:ext cx="429768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Hz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1737360" y="4242816"/>
            <a:ext cx="4206240" cy="393192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peak distance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5943600" y="4242816"/>
            <a:ext cx="4297680" cy="393192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0.25 s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1737360" y="4636008"/>
            <a:ext cx="420624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S1-S2 valid range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5943600" y="4636008"/>
            <a:ext cx="429768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0.07-0.50 s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1737360" y="5029200"/>
            <a:ext cx="4206240" cy="393192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S2-S1 valid range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5943600" y="5029200"/>
            <a:ext cx="4297680" cy="393192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0.18-1.40 s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1737360" y="5422392"/>
            <a:ext cx="420624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Murmur-like threshold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5943600" y="5422392"/>
            <a:ext cx="429768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0.35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Data source: Report Appendix A, Table 20</a:t>
            </a:r>
            <a:endParaRPr lang="en-US" sz="8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benchmark packet vs deployed BLE packet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2560320" cy="429768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packet</a:t>
            </a:r>
            <a:endParaRPr lang="en-US" sz="1170"/>
          </a:p>
        </p:txBody>
      </p:sp>
      <p:sp>
        <p:nvSpPr>
          <p:cNvPr id="6" name="Text 4"/>
          <p:cNvSpPr/>
          <p:nvPr/>
        </p:nvSpPr>
        <p:spPr>
          <a:xfrm>
            <a:off x="3474720" y="1463040"/>
            <a:ext cx="2103120" cy="429768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bytes</a:t>
            </a:r>
            <a:endParaRPr lang="en-US" sz="1170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2560320" cy="42976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</a:t>
            </a:r>
            <a:endParaRPr lang="en-US" sz="1170"/>
          </a:p>
        </p:txBody>
      </p:sp>
      <p:sp>
        <p:nvSpPr>
          <p:cNvPr id="8" name="Text 6"/>
          <p:cNvSpPr/>
          <p:nvPr/>
        </p:nvSpPr>
        <p:spPr>
          <a:xfrm>
            <a:off x="3474720" y="1892808"/>
            <a:ext cx="2103120" cy="42976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bytes</a:t>
            </a:r>
            <a:endParaRPr lang="en-US" sz="1170"/>
          </a:p>
        </p:txBody>
      </p:sp>
      <p:sp>
        <p:nvSpPr>
          <p:cNvPr id="9" name="Text 7"/>
          <p:cNvSpPr/>
          <p:nvPr/>
        </p:nvSpPr>
        <p:spPr>
          <a:xfrm>
            <a:off x="914400" y="2322576"/>
            <a:ext cx="2560320" cy="42976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number</a:t>
            </a:r>
            <a:endParaRPr lang="en-US" sz="1170"/>
          </a:p>
        </p:txBody>
      </p:sp>
      <p:sp>
        <p:nvSpPr>
          <p:cNvPr id="10" name="Text 8"/>
          <p:cNvSpPr/>
          <p:nvPr/>
        </p:nvSpPr>
        <p:spPr>
          <a:xfrm>
            <a:off x="3474720" y="2322576"/>
            <a:ext cx="2103120" cy="42976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bytes</a:t>
            </a:r>
            <a:endParaRPr lang="en-US" sz="1170"/>
          </a:p>
        </p:txBody>
      </p:sp>
      <p:sp>
        <p:nvSpPr>
          <p:cNvPr id="11" name="Text 9"/>
          <p:cNvSpPr/>
          <p:nvPr/>
        </p:nvSpPr>
        <p:spPr>
          <a:xfrm>
            <a:off x="914400" y="2752344"/>
            <a:ext cx="2560320" cy="42976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count</a:t>
            </a:r>
            <a:endParaRPr lang="en-US" sz="1170"/>
          </a:p>
        </p:txBody>
      </p:sp>
      <p:sp>
        <p:nvSpPr>
          <p:cNvPr id="12" name="Text 10"/>
          <p:cNvSpPr/>
          <p:nvPr/>
        </p:nvSpPr>
        <p:spPr>
          <a:xfrm>
            <a:off x="3474720" y="2752344"/>
            <a:ext cx="2103120" cy="42976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bytes</a:t>
            </a:r>
            <a:endParaRPr lang="en-US" sz="1170"/>
          </a:p>
        </p:txBody>
      </p:sp>
      <p:sp>
        <p:nvSpPr>
          <p:cNvPr id="13" name="Text 11"/>
          <p:cNvSpPr/>
          <p:nvPr/>
        </p:nvSpPr>
        <p:spPr>
          <a:xfrm>
            <a:off x="914400" y="3182112"/>
            <a:ext cx="2560320" cy="42976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payload</a:t>
            </a:r>
            <a:endParaRPr lang="en-US" sz="1170"/>
          </a:p>
        </p:txBody>
      </p:sp>
      <p:sp>
        <p:nvSpPr>
          <p:cNvPr id="14" name="Text 12"/>
          <p:cNvSpPr/>
          <p:nvPr/>
        </p:nvSpPr>
        <p:spPr>
          <a:xfrm>
            <a:off x="3474720" y="3182112"/>
            <a:ext cx="2103120" cy="42976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bytes</a:t>
            </a:r>
            <a:endParaRPr lang="en-US" sz="1170"/>
          </a:p>
        </p:txBody>
      </p:sp>
      <p:sp>
        <p:nvSpPr>
          <p:cNvPr id="15" name="Text 13"/>
          <p:cNvSpPr/>
          <p:nvPr/>
        </p:nvSpPr>
        <p:spPr>
          <a:xfrm>
            <a:off x="6583680" y="1463040"/>
            <a:ext cx="2560320" cy="429768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Deployed BLE packet</a:t>
            </a:r>
            <a:endParaRPr lang="en-US" sz="1170"/>
          </a:p>
        </p:txBody>
      </p:sp>
      <p:sp>
        <p:nvSpPr>
          <p:cNvPr id="16" name="Text 14"/>
          <p:cNvSpPr/>
          <p:nvPr/>
        </p:nvSpPr>
        <p:spPr>
          <a:xfrm>
            <a:off x="9144000" y="1463040"/>
            <a:ext cx="2103120" cy="429768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raw stream</a:t>
            </a:r>
            <a:endParaRPr lang="en-US" sz="1170"/>
          </a:p>
        </p:txBody>
      </p:sp>
      <p:sp>
        <p:nvSpPr>
          <p:cNvPr id="17" name="Text 15"/>
          <p:cNvSpPr/>
          <p:nvPr/>
        </p:nvSpPr>
        <p:spPr>
          <a:xfrm>
            <a:off x="6583680" y="1892808"/>
            <a:ext cx="2560320" cy="42976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</a:t>
            </a:r>
            <a:endParaRPr lang="en-US" sz="1170"/>
          </a:p>
        </p:txBody>
      </p:sp>
      <p:sp>
        <p:nvSpPr>
          <p:cNvPr id="18" name="Text 16"/>
          <p:cNvSpPr/>
          <p:nvPr/>
        </p:nvSpPr>
        <p:spPr>
          <a:xfrm>
            <a:off x="9144000" y="1892808"/>
            <a:ext cx="2103120" cy="42976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present</a:t>
            </a:r>
            <a:endParaRPr lang="en-US" sz="1170"/>
          </a:p>
        </p:txBody>
      </p:sp>
      <p:sp>
        <p:nvSpPr>
          <p:cNvPr id="19" name="Text 17"/>
          <p:cNvSpPr/>
          <p:nvPr/>
        </p:nvSpPr>
        <p:spPr>
          <a:xfrm>
            <a:off x="6583680" y="2322576"/>
            <a:ext cx="2560320" cy="42976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number</a:t>
            </a:r>
            <a:endParaRPr lang="en-US" sz="1170"/>
          </a:p>
        </p:txBody>
      </p:sp>
      <p:sp>
        <p:nvSpPr>
          <p:cNvPr id="20" name="Text 18"/>
          <p:cNvSpPr/>
          <p:nvPr/>
        </p:nvSpPr>
        <p:spPr>
          <a:xfrm>
            <a:off x="9144000" y="2322576"/>
            <a:ext cx="2103120" cy="42976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present</a:t>
            </a:r>
            <a:endParaRPr lang="en-US" sz="1170"/>
          </a:p>
        </p:txBody>
      </p:sp>
      <p:sp>
        <p:nvSpPr>
          <p:cNvPr id="21" name="Text 19"/>
          <p:cNvSpPr/>
          <p:nvPr/>
        </p:nvSpPr>
        <p:spPr>
          <a:xfrm>
            <a:off x="6583680" y="2752344"/>
            <a:ext cx="2560320" cy="42976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</a:t>
            </a:r>
            <a:endParaRPr lang="en-US" sz="1170"/>
          </a:p>
        </p:txBody>
      </p:sp>
      <p:sp>
        <p:nvSpPr>
          <p:cNvPr id="22" name="Text 20"/>
          <p:cNvSpPr/>
          <p:nvPr/>
        </p:nvSpPr>
        <p:spPr>
          <a:xfrm>
            <a:off x="9144000" y="2752344"/>
            <a:ext cx="2103120" cy="42976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present</a:t>
            </a:r>
            <a:endParaRPr lang="en-US" sz="1170"/>
          </a:p>
        </p:txBody>
      </p:sp>
      <p:sp>
        <p:nvSpPr>
          <p:cNvPr id="23" name="Text 21"/>
          <p:cNvSpPr/>
          <p:nvPr/>
        </p:nvSpPr>
        <p:spPr>
          <a:xfrm>
            <a:off x="6583680" y="3182112"/>
            <a:ext cx="2560320" cy="42976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</a:t>
            </a:r>
            <a:endParaRPr lang="en-US" sz="1170"/>
          </a:p>
        </p:txBody>
      </p:sp>
      <p:sp>
        <p:nvSpPr>
          <p:cNvPr id="24" name="Text 22"/>
          <p:cNvSpPr/>
          <p:nvPr/>
        </p:nvSpPr>
        <p:spPr>
          <a:xfrm>
            <a:off x="9144000" y="3182112"/>
            <a:ext cx="2103120" cy="42976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7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uint16 raw ADC samples</a:t>
            </a:r>
            <a:endParaRPr lang="en-US" sz="1170"/>
          </a:p>
        </p:txBody>
      </p:sp>
      <p:sp>
        <p:nvSpPr>
          <p:cNvPr id="25" name="Text 23"/>
          <p:cNvSpPr/>
          <p:nvPr/>
        </p:nvSpPr>
        <p:spPr>
          <a:xfrm>
            <a:off x="1097280" y="4617720"/>
            <a:ext cx="97840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benchmark packet was intentionally structured to measure packet loss.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deployed BLE firmware uses a lower-overhead raw-sample notification format.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receiver reconstructs time from the configured sample rate.</a:t>
            </a:r>
            <a:endParaRPr lang="en-US" sz="1700"/>
          </a:p>
        </p:txBody>
      </p:sp>
      <p:sp>
        <p:nvSpPr>
          <p:cNvPr id="26" name="Shape 2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Digital Phonocardiography System | Lab of Internet of Medical Things</a:t>
            </a:r>
            <a:endParaRPr lang="en-US" sz="85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main REST endpoints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1051560" cy="475488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4800600" cy="475488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6446520" y="1097280"/>
            <a:ext cx="5120640" cy="475488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105156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1645920" y="1572768"/>
            <a:ext cx="480060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/api/patients/search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6446520" y="1572768"/>
            <a:ext cx="512064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patients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594360" y="2048256"/>
            <a:ext cx="105156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1645920" y="2048256"/>
            <a:ext cx="480060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/api/patients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6446520" y="2048256"/>
            <a:ext cx="512064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patient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594360" y="2523744"/>
            <a:ext cx="105156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1645920" y="2523744"/>
            <a:ext cx="480060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/api/heart-measurements/current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6446520" y="2523744"/>
            <a:ext cx="512064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measurement state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594360" y="2999232"/>
            <a:ext cx="105156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1645920" y="2999232"/>
            <a:ext cx="480060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/api/heart-measurements/{patientId}/record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6446520" y="2999232"/>
            <a:ext cx="512064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and store recording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594360" y="3474720"/>
            <a:ext cx="105156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1645920" y="3474720"/>
            <a:ext cx="480060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/api/heart-recordings/{recordingId}/audio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6446520" y="3474720"/>
            <a:ext cx="512064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saved WAV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594360" y="3950208"/>
            <a:ext cx="105156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1645920" y="3950208"/>
            <a:ext cx="480060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/api/heart-recordings/{recordingId}/analysis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6446520" y="3950208"/>
            <a:ext cx="512064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Run/retrieve analysis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594360" y="4425696"/>
            <a:ext cx="105156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1645920" y="4425696"/>
            <a:ext cx="480060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/api/heart-recordings/{recordingId}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6446520" y="4425696"/>
            <a:ext cx="512064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recording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594360" y="4901184"/>
            <a:ext cx="105156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GET/POST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1645920" y="4901184"/>
            <a:ext cx="480060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/api/ble/...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6446520" y="4901184"/>
            <a:ext cx="512064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 diagnostics/control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Data source: Report Table 11</a:t>
            </a:r>
            <a:endParaRPr lang="en-US" sz="8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Timer-driven acquisition algorithm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7743" y="1527628"/>
            <a:ext cx="484632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Hardware timer defines the sampling instants.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Timer interrupt does not call analogRead directly; it only notifies a FreeRTOS sampling task.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sampling task reads A1 several times and averages them to produce one output sample.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Batches are pushed into a FreeRTOS queue; the main loop sends BLE notifications.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6437086" y="3012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9233F"/>
                </a:solidFill>
              </a:rPr>
              <a:t>Oversampling average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6437086" y="4795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73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12-bit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6437086" y="5298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ADC resolution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8494486" y="4795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1-32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8494486" y="5298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oversampling count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10414726" y="4795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7B6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≤ 6</a:t>
            </a:r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10414726" y="5298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samples / batch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Digital Phonocardiography System | Lab of Internet of Medical Things</a:t>
            </a:r>
            <a:endParaRPr lang="en-US" sz="8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C323C4-9053-204D-E059-5A44CC779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971" y="3742419"/>
            <a:ext cx="4651830" cy="5052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9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responsibilities and REST API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920240" cy="475488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Responsibility</a:t>
            </a:r>
            <a:endParaRPr lang="en-US" sz="113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3474720" cy="475488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13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192024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management</a:t>
            </a:r>
            <a:endParaRPr lang="en-US" sz="1130"/>
          </a:p>
        </p:txBody>
      </p:sp>
      <p:sp>
        <p:nvSpPr>
          <p:cNvPr id="8" name="Text 6"/>
          <p:cNvSpPr/>
          <p:nvPr/>
        </p:nvSpPr>
        <p:spPr>
          <a:xfrm>
            <a:off x="2651760" y="1618488"/>
            <a:ext cx="347472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Create/search patient profiles</a:t>
            </a:r>
            <a:endParaRPr lang="en-US" sz="1130"/>
          </a:p>
        </p:txBody>
      </p:sp>
      <p:sp>
        <p:nvSpPr>
          <p:cNvPr id="9" name="Text 7"/>
          <p:cNvSpPr/>
          <p:nvPr/>
        </p:nvSpPr>
        <p:spPr>
          <a:xfrm>
            <a:off x="731520" y="2093976"/>
            <a:ext cx="192024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 ingestion</a:t>
            </a:r>
            <a:endParaRPr lang="en-US" sz="1130"/>
          </a:p>
        </p:txBody>
      </p:sp>
      <p:sp>
        <p:nvSpPr>
          <p:cNvPr id="10" name="Text 8"/>
          <p:cNvSpPr/>
          <p:nvPr/>
        </p:nvSpPr>
        <p:spPr>
          <a:xfrm>
            <a:off x="2651760" y="2093976"/>
            <a:ext cx="347472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raw ESP32 sample batches</a:t>
            </a:r>
            <a:endParaRPr lang="en-US" sz="1130"/>
          </a:p>
        </p:txBody>
      </p:sp>
      <p:sp>
        <p:nvSpPr>
          <p:cNvPr id="11" name="Text 9"/>
          <p:cNvSpPr/>
          <p:nvPr/>
        </p:nvSpPr>
        <p:spPr>
          <a:xfrm>
            <a:off x="731520" y="2569464"/>
            <a:ext cx="192024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 action</a:t>
            </a:r>
            <a:endParaRPr lang="en-US" sz="1130"/>
          </a:p>
        </p:txBody>
      </p:sp>
      <p:sp>
        <p:nvSpPr>
          <p:cNvPr id="12" name="Text 10"/>
          <p:cNvSpPr/>
          <p:nvPr/>
        </p:nvSpPr>
        <p:spPr>
          <a:xfrm>
            <a:off x="2651760" y="2569464"/>
            <a:ext cx="347472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fixed-duration acquisition</a:t>
            </a:r>
            <a:endParaRPr lang="en-US" sz="1130"/>
          </a:p>
        </p:txBody>
      </p:sp>
      <p:sp>
        <p:nvSpPr>
          <p:cNvPr id="13" name="Text 11"/>
          <p:cNvSpPr/>
          <p:nvPr/>
        </p:nvSpPr>
        <p:spPr>
          <a:xfrm>
            <a:off x="731520" y="3044952"/>
            <a:ext cx="192024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storage</a:t>
            </a:r>
            <a:endParaRPr lang="en-US" sz="1130"/>
          </a:p>
        </p:txBody>
      </p:sp>
      <p:sp>
        <p:nvSpPr>
          <p:cNvPr id="14" name="Text 12"/>
          <p:cNvSpPr/>
          <p:nvPr/>
        </p:nvSpPr>
        <p:spPr>
          <a:xfrm>
            <a:off x="2651760" y="3044952"/>
            <a:ext cx="347472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mono WAV files</a:t>
            </a:r>
            <a:endParaRPr lang="en-US" sz="113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192024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PCG analysis</a:t>
            </a:r>
            <a:endParaRPr lang="en-US" sz="1130"/>
          </a:p>
        </p:txBody>
      </p:sp>
      <p:sp>
        <p:nvSpPr>
          <p:cNvPr id="16" name="Text 14"/>
          <p:cNvSpPr/>
          <p:nvPr/>
        </p:nvSpPr>
        <p:spPr>
          <a:xfrm>
            <a:off x="2651760" y="3520440"/>
            <a:ext cx="347472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113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pipeline and return plot-ready results</a:t>
            </a:r>
            <a:endParaRPr lang="en-US" sz="1130"/>
          </a:p>
        </p:txBody>
      </p:sp>
      <p:sp>
        <p:nvSpPr>
          <p:cNvPr id="17" name="Text 15"/>
          <p:cNvSpPr/>
          <p:nvPr/>
        </p:nvSpPr>
        <p:spPr>
          <a:xfrm>
            <a:off x="6629400" y="1143000"/>
            <a:ext cx="960120" cy="475488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980"/>
          </a:p>
        </p:txBody>
      </p:sp>
      <p:sp>
        <p:nvSpPr>
          <p:cNvPr id="18" name="Text 16"/>
          <p:cNvSpPr/>
          <p:nvPr/>
        </p:nvSpPr>
        <p:spPr>
          <a:xfrm>
            <a:off x="7589520" y="1143000"/>
            <a:ext cx="3840480" cy="475488"/>
          </a:xfrm>
          <a:prstGeom prst="rect">
            <a:avLst/>
          </a:prstGeom>
          <a:solidFill>
            <a:srgbClr val="09233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980"/>
          </a:p>
        </p:txBody>
      </p:sp>
      <p:sp>
        <p:nvSpPr>
          <p:cNvPr id="19" name="Text 17"/>
          <p:cNvSpPr/>
          <p:nvPr/>
        </p:nvSpPr>
        <p:spPr>
          <a:xfrm>
            <a:off x="6629400" y="1618488"/>
            <a:ext cx="96012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80"/>
          </a:p>
        </p:txBody>
      </p:sp>
      <p:sp>
        <p:nvSpPr>
          <p:cNvPr id="20" name="Text 18"/>
          <p:cNvSpPr/>
          <p:nvPr/>
        </p:nvSpPr>
        <p:spPr>
          <a:xfrm>
            <a:off x="7589520" y="1618488"/>
            <a:ext cx="384048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/api/patients/search</a:t>
            </a:r>
            <a:endParaRPr lang="en-US" sz="980"/>
          </a:p>
        </p:txBody>
      </p:sp>
      <p:sp>
        <p:nvSpPr>
          <p:cNvPr id="21" name="Text 19"/>
          <p:cNvSpPr/>
          <p:nvPr/>
        </p:nvSpPr>
        <p:spPr>
          <a:xfrm>
            <a:off x="6629400" y="2093976"/>
            <a:ext cx="96012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980"/>
          </a:p>
        </p:txBody>
      </p:sp>
      <p:sp>
        <p:nvSpPr>
          <p:cNvPr id="22" name="Text 20"/>
          <p:cNvSpPr/>
          <p:nvPr/>
        </p:nvSpPr>
        <p:spPr>
          <a:xfrm>
            <a:off x="7589520" y="2093976"/>
            <a:ext cx="384048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/api/patients</a:t>
            </a:r>
            <a:endParaRPr lang="en-US" sz="980"/>
          </a:p>
        </p:txBody>
      </p:sp>
      <p:sp>
        <p:nvSpPr>
          <p:cNvPr id="23" name="Text 21"/>
          <p:cNvSpPr/>
          <p:nvPr/>
        </p:nvSpPr>
        <p:spPr>
          <a:xfrm>
            <a:off x="6629400" y="2569464"/>
            <a:ext cx="96012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980"/>
          </a:p>
        </p:txBody>
      </p:sp>
      <p:sp>
        <p:nvSpPr>
          <p:cNvPr id="24" name="Text 22"/>
          <p:cNvSpPr/>
          <p:nvPr/>
        </p:nvSpPr>
        <p:spPr>
          <a:xfrm>
            <a:off x="7589520" y="2569464"/>
            <a:ext cx="384048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/heart-measurements/{patientId}/record</a:t>
            </a:r>
            <a:endParaRPr lang="en-US" sz="980"/>
          </a:p>
        </p:txBody>
      </p:sp>
      <p:sp>
        <p:nvSpPr>
          <p:cNvPr id="25" name="Text 23"/>
          <p:cNvSpPr/>
          <p:nvPr/>
        </p:nvSpPr>
        <p:spPr>
          <a:xfrm>
            <a:off x="6629400" y="3044952"/>
            <a:ext cx="96012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80"/>
          </a:p>
        </p:txBody>
      </p:sp>
      <p:sp>
        <p:nvSpPr>
          <p:cNvPr id="26" name="Text 24"/>
          <p:cNvSpPr/>
          <p:nvPr/>
        </p:nvSpPr>
        <p:spPr>
          <a:xfrm>
            <a:off x="7589520" y="3044952"/>
            <a:ext cx="3840480" cy="475488"/>
          </a:xfrm>
          <a:prstGeom prst="rect">
            <a:avLst/>
          </a:prstGeom>
          <a:solidFill>
            <a:srgbClr val="F8FB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/heart-recordings/{id}/analysis</a:t>
            </a:r>
            <a:endParaRPr lang="en-US" sz="980"/>
          </a:p>
        </p:txBody>
      </p:sp>
      <p:sp>
        <p:nvSpPr>
          <p:cNvPr id="27" name="Text 25"/>
          <p:cNvSpPr/>
          <p:nvPr/>
        </p:nvSpPr>
        <p:spPr>
          <a:xfrm>
            <a:off x="6629400" y="3520440"/>
            <a:ext cx="96012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GET/POST</a:t>
            </a:r>
            <a:endParaRPr lang="en-US" sz="980"/>
          </a:p>
        </p:txBody>
      </p:sp>
      <p:sp>
        <p:nvSpPr>
          <p:cNvPr id="28" name="Text 26"/>
          <p:cNvSpPr/>
          <p:nvPr/>
        </p:nvSpPr>
        <p:spPr>
          <a:xfrm>
            <a:off x="7589520" y="3520440"/>
            <a:ext cx="384048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D8E0E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/api/ble/...</a:t>
            </a:r>
            <a:endParaRPr lang="en-US" sz="980"/>
          </a:p>
        </p:txBody>
      </p:sp>
      <p:sp>
        <p:nvSpPr>
          <p:cNvPr id="29" name="Text 27"/>
          <p:cNvSpPr/>
          <p:nvPr/>
        </p:nvSpPr>
        <p:spPr>
          <a:xfrm>
            <a:off x="1005840" y="4892040"/>
            <a:ext cx="100584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FastAPI exposes the REST routes.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SQLAlchemy and Alembic support database access and migrations.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PostgreSQL stores structured metadata; WAV files store the acquired signal.</a:t>
            </a:r>
            <a:endParaRPr lang="en-US" sz="1700"/>
          </a:p>
        </p:txBody>
      </p:sp>
      <p:sp>
        <p:nvSpPr>
          <p:cNvPr id="30" name="Shape 2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656539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</a:rPr>
              <a:t>Data source: Report Tables 10 and 11</a:t>
            </a:r>
            <a:endParaRPr lang="en-US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41</Slides>
  <Notes>39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Phonocardiography System</dc:title>
  <dc:subject>Digital phonocardiography system presentation</dc:subject>
  <dc:creator>OpenAI</dc:creator>
  <cp:revision>13</cp:revision>
  <dcterms:created xsi:type="dcterms:W3CDTF">2026-06-27T17:05:25Z</dcterms:created>
  <dcterms:modified xsi:type="dcterms:W3CDTF">2026-06-30T17:22:00Z</dcterms:modified>
</cp:coreProperties>
</file>